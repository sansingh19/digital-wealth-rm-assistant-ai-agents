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0730" cy="6858000"/>
  <p:notesSz cx="6858000" cy="9144000"/>
  <p:embeddedFontLst>
    <p:embeddedFont>
      <p:font typeface="Proxima Nova" panose="02000506030000020004"/>
      <p:regular r:id="rId28"/>
      <p:bold r:id="rId29"/>
    </p:embeddedFont>
    <p:embeddedFont>
      <p:font typeface="Calibri" panose="020F050202020403020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f82e0f2b_0_309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f82e0f2b_0_3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f82e0f2b_0_305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f82e0f2b_0_3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f82e0f2b_0_30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f82e0f2b_0_3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f82e0f2b_0_31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f82e0f2b_0_3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f82e0f2b_0_335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6f82e0f2b_0_3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2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f82e0f2b_0_32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6f82e0f2b_0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f82e0f2b_0_330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6f82e0f2b_0_3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f6f82e0f2b_0_255"/>
          <p:cNvCxnSpPr/>
          <p:nvPr/>
        </p:nvCxnSpPr>
        <p:spPr>
          <a:xfrm>
            <a:off x="0" y="3997533"/>
            <a:ext cx="12191400" cy="0"/>
          </a:xfrm>
          <a:prstGeom prst="straightConnector1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g3f6f82e0f2b_0_255"/>
          <p:cNvSpPr txBox="1"/>
          <p:nvPr>
            <p:ph type="ctrTitle"/>
          </p:nvPr>
        </p:nvSpPr>
        <p:spPr>
          <a:xfrm>
            <a:off x="680564" y="1676400"/>
            <a:ext cx="108303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g3f6f82e0f2b_0_255"/>
          <p:cNvSpPr txBox="1"/>
          <p:nvPr>
            <p:ph type="subTitle" idx="1"/>
          </p:nvPr>
        </p:nvSpPr>
        <p:spPr>
          <a:xfrm>
            <a:off x="680564" y="4243083"/>
            <a:ext cx="10830300" cy="8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g3f6f82e0f2b_0_255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g3f6f82e0f2b_0_260"/>
          <p:cNvCxnSpPr/>
          <p:nvPr/>
        </p:nvCxnSpPr>
        <p:spPr>
          <a:xfrm>
            <a:off x="0" y="3997533"/>
            <a:ext cx="12191400" cy="0"/>
          </a:xfrm>
          <a:prstGeom prst="straightConnector1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g3f6f82e0f2b_0_260"/>
          <p:cNvSpPr txBox="1"/>
          <p:nvPr>
            <p:ph type="title"/>
          </p:nvPr>
        </p:nvSpPr>
        <p:spPr>
          <a:xfrm>
            <a:off x="680564" y="2743200"/>
            <a:ext cx="10830300" cy="10383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f6f82e0f2b_0_260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6f82e0f2b_0_264"/>
          <p:cNvSpPr/>
          <p:nvPr/>
        </p:nvSpPr>
        <p:spPr>
          <a:xfrm>
            <a:off x="0" y="6727600"/>
            <a:ext cx="121914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g3f6f82e0f2b_0_264"/>
          <p:cNvSpPr txBox="1"/>
          <p:nvPr>
            <p:ph type="title"/>
          </p:nvPr>
        </p:nvSpPr>
        <p:spPr>
          <a:xfrm>
            <a:off x="415578" y="593367"/>
            <a:ext cx="1136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" name="Google Shape;21;g3f6f82e0f2b_0_264"/>
          <p:cNvSpPr txBox="1"/>
          <p:nvPr>
            <p:ph type="body" idx="1"/>
          </p:nvPr>
        </p:nvSpPr>
        <p:spPr>
          <a:xfrm>
            <a:off x="415578" y="1536633"/>
            <a:ext cx="11360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g3f6f82e0f2b_0_264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6f82e0f2b_0_269"/>
          <p:cNvSpPr txBox="1"/>
          <p:nvPr>
            <p:ph type="title"/>
          </p:nvPr>
        </p:nvSpPr>
        <p:spPr>
          <a:xfrm>
            <a:off x="415578" y="593367"/>
            <a:ext cx="1136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" name="Google Shape;25;g3f6f82e0f2b_0_269"/>
          <p:cNvSpPr txBox="1"/>
          <p:nvPr>
            <p:ph type="body" idx="1"/>
          </p:nvPr>
        </p:nvSpPr>
        <p:spPr>
          <a:xfrm>
            <a:off x="415578" y="1536633"/>
            <a:ext cx="533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g3f6f82e0f2b_0_269"/>
          <p:cNvSpPr txBox="1"/>
          <p:nvPr>
            <p:ph type="body" idx="2"/>
          </p:nvPr>
        </p:nvSpPr>
        <p:spPr>
          <a:xfrm>
            <a:off x="6442856" y="1536633"/>
            <a:ext cx="533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f6f82e0f2b_0_269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6f82e0f2b_0_274"/>
          <p:cNvSpPr txBox="1"/>
          <p:nvPr>
            <p:ph type="title"/>
          </p:nvPr>
        </p:nvSpPr>
        <p:spPr>
          <a:xfrm>
            <a:off x="415578" y="593367"/>
            <a:ext cx="1136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" name="Google Shape;30;g3f6f82e0f2b_0_274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6f82e0f2b_0_277"/>
          <p:cNvSpPr txBox="1"/>
          <p:nvPr>
            <p:ph type="title"/>
          </p:nvPr>
        </p:nvSpPr>
        <p:spPr>
          <a:xfrm>
            <a:off x="415578" y="740800"/>
            <a:ext cx="37437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g3f6f82e0f2b_0_277"/>
          <p:cNvSpPr txBox="1"/>
          <p:nvPr>
            <p:ph type="body" idx="1"/>
          </p:nvPr>
        </p:nvSpPr>
        <p:spPr>
          <a:xfrm>
            <a:off x="415578" y="1852800"/>
            <a:ext cx="37437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f6f82e0f2b_0_277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6f82e0f2b_0_281"/>
          <p:cNvSpPr txBox="1"/>
          <p:nvPr>
            <p:ph type="title"/>
          </p:nvPr>
        </p:nvSpPr>
        <p:spPr>
          <a:xfrm>
            <a:off x="653632" y="701800"/>
            <a:ext cx="77295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7" name="Google Shape;37;g3f6f82e0f2b_0_281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6f82e0f2b_0_284"/>
          <p:cNvSpPr/>
          <p:nvPr/>
        </p:nvSpPr>
        <p:spPr>
          <a:xfrm>
            <a:off x="6095675" y="100"/>
            <a:ext cx="6095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0" name="Google Shape;40;g3f6f82e0f2b_0_284"/>
          <p:cNvCxnSpPr/>
          <p:nvPr/>
        </p:nvCxnSpPr>
        <p:spPr>
          <a:xfrm>
            <a:off x="6705876" y="5994000"/>
            <a:ext cx="624300" cy="0"/>
          </a:xfrm>
          <a:prstGeom prst="straightConnector1">
            <a:avLst/>
          </a:prstGeom>
          <a:noFill/>
          <a:ln w="254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g3f6f82e0f2b_0_284"/>
          <p:cNvSpPr txBox="1"/>
          <p:nvPr>
            <p:ph type="title"/>
          </p:nvPr>
        </p:nvSpPr>
        <p:spPr>
          <a:xfrm>
            <a:off x="353981" y="1607767"/>
            <a:ext cx="5393400" cy="2012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f6f82e0f2b_0_284"/>
          <p:cNvSpPr txBox="1"/>
          <p:nvPr>
            <p:ph type="subTitle" idx="1"/>
          </p:nvPr>
        </p:nvSpPr>
        <p:spPr>
          <a:xfrm>
            <a:off x="353981" y="3692001"/>
            <a:ext cx="5393400" cy="179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f6f82e0f2b_0_284"/>
          <p:cNvSpPr txBox="1"/>
          <p:nvPr>
            <p:ph type="body" idx="2"/>
          </p:nvPr>
        </p:nvSpPr>
        <p:spPr>
          <a:xfrm>
            <a:off x="6585649" y="965600"/>
            <a:ext cx="51156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g3f6f82e0f2b_0_284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6f82e0f2b_0_291"/>
          <p:cNvSpPr txBox="1"/>
          <p:nvPr>
            <p:ph type="body" idx="1"/>
          </p:nvPr>
        </p:nvSpPr>
        <p:spPr>
          <a:xfrm>
            <a:off x="415578" y="5649100"/>
            <a:ext cx="7998000" cy="79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</a:lstStyle>
          <a:p/>
        </p:txBody>
      </p:sp>
      <p:sp>
        <p:nvSpPr>
          <p:cNvPr id="47" name="Google Shape;47;g3f6f82e0f2b_0_291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6f82e0f2b_0_294"/>
          <p:cNvSpPr/>
          <p:nvPr/>
        </p:nvSpPr>
        <p:spPr>
          <a:xfrm>
            <a:off x="0" y="6727600"/>
            <a:ext cx="121914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g3f6f82e0f2b_0_294"/>
          <p:cNvSpPr txBox="1"/>
          <p:nvPr>
            <p:ph type="title" hasCustomPrompt="1"/>
          </p:nvPr>
        </p:nvSpPr>
        <p:spPr>
          <a:xfrm>
            <a:off x="415578" y="1321967"/>
            <a:ext cx="11360100" cy="2557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None/>
              <a:defRPr sz="18700" b="1"/>
            </a:lvl9pPr>
          </a:lstStyle>
          <a:p>
            <a:r>
              <a:t>xx%</a:t>
            </a:r>
          </a:p>
        </p:txBody>
      </p:sp>
      <p:sp>
        <p:nvSpPr>
          <p:cNvPr id="51" name="Google Shape;51;g3f6f82e0f2b_0_294"/>
          <p:cNvSpPr txBox="1"/>
          <p:nvPr>
            <p:ph type="body" idx="1"/>
          </p:nvPr>
        </p:nvSpPr>
        <p:spPr>
          <a:xfrm>
            <a:off x="415578" y="4095067"/>
            <a:ext cx="11360100" cy="120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f6f82e0f2b_0_294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6f82e0f2b_0_299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6f82e0f2b_0_251"/>
          <p:cNvSpPr txBox="1"/>
          <p:nvPr>
            <p:ph type="title"/>
          </p:nvPr>
        </p:nvSpPr>
        <p:spPr>
          <a:xfrm>
            <a:off x="415578" y="593367"/>
            <a:ext cx="113601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Proxima Nova" panose="02000506030000020004"/>
              <a:buNone/>
              <a:defRPr sz="37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/>
        </p:txBody>
      </p:sp>
      <p:sp>
        <p:nvSpPr>
          <p:cNvPr id="7" name="Google Shape;7;g3f6f82e0f2b_0_251"/>
          <p:cNvSpPr txBox="1"/>
          <p:nvPr>
            <p:ph type="body" idx="1"/>
          </p:nvPr>
        </p:nvSpPr>
        <p:spPr>
          <a:xfrm>
            <a:off x="415578" y="1536633"/>
            <a:ext cx="11360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roxima Nova" panose="02000506030000020004"/>
              <a:buChar char="●"/>
              <a:defRPr sz="24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○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■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●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○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■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●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○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Proxima Nova" panose="02000506030000020004"/>
              <a:buChar char="■"/>
              <a:defRPr sz="1900">
                <a:solidFill>
                  <a:schemeClr val="accent3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/>
        </p:txBody>
      </p:sp>
      <p:sp>
        <p:nvSpPr>
          <p:cNvPr id="8" name="Google Shape;8;g3f6f82e0f2b_0_251"/>
          <p:cNvSpPr txBox="1"/>
          <p:nvPr>
            <p:ph type="sldNum" idx="12"/>
          </p:nvPr>
        </p:nvSpPr>
        <p:spPr>
          <a:xfrm>
            <a:off x="11296008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roxima Nova" panose="02000506030000020004"/>
                <a:ea typeface="Proxima Nova" panose="02000506030000020004"/>
                <a:cs typeface="Proxima Nova" panose="02000506030000020004"/>
                <a:sym typeface="Proxima Nova" panose="0200050603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680564" y="1676400"/>
            <a:ext cx="10830300" cy="21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Finance Pipeline</a:t>
            </a:r>
            <a:endParaRPr lang="en-US"/>
          </a:p>
        </p:txBody>
      </p:sp>
      <p:sp>
        <p:nvSpPr>
          <p:cNvPr id="60" name="Google Shape;60;p1"/>
          <p:cNvSpPr txBox="1"/>
          <p:nvPr>
            <p:ph type="subTitle" idx="1"/>
          </p:nvPr>
        </p:nvSpPr>
        <p:spPr>
          <a:xfrm>
            <a:off x="680564" y="4243083"/>
            <a:ext cx="108303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Dev. : Sadiya Shaikh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at a Glance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31520" y="1143000"/>
            <a:ext cx="107898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AI-powered Wealth Relationship Manager assistant</a:t>
            </a:r>
            <a:endParaRPr sz="20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Combines financial news, client portfolio data and meeting information</a:t>
            </a:r>
            <a:endParaRPr sz="20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Produces personalized market outlooks, RM talking points and sector signals</a:t>
            </a:r>
            <a:endParaRPr sz="20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Built around a deterministic multi-stage workflow with LLM-powered components</a:t>
            </a:r>
            <a:endParaRPr sz="2000"/>
          </a:p>
        </p:txBody>
      </p:sp>
      <p:sp>
        <p:nvSpPr>
          <p:cNvPr id="67" name="Google Shape;67;p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2/20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g3f6f82e0f2b_0_30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2038949" cy="802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f6f82e0f2b_0_305" descr="generated architecture diagram for Yahoo Finance RSS → Step 1: News ingestion&#10;Step 2: LLM market intelligence → Events → Trends → Themes → Sector tags&#10;Step 3: Client portfolio → Theme matching&#10;Step 5: Personalized client market outlook&#10;Steps 6–8: Meeting summary → Talking points → Sector signals&#10;Database → FastAPI → RM application&#10;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47949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g3f6f82e0f2b_0_301" descr="Beautify as image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47949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f82e0f2b_0_316"/>
          <p:cNvSpPr txBox="1"/>
          <p:nvPr>
            <p:ph type="title"/>
          </p:nvPr>
        </p:nvSpPr>
        <p:spPr>
          <a:xfrm>
            <a:off x="415577" y="593375"/>
            <a:ext cx="44742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 Design</a:t>
            </a:r>
            <a:endParaRPr lang="en-US"/>
          </a:p>
        </p:txBody>
      </p:sp>
      <p:pic>
        <p:nvPicPr>
          <p:cNvPr id="88" name="Google Shape;88;g3f6f82e0f2b_0_3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66425" y="247975"/>
            <a:ext cx="5855826" cy="641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f82e0f2b_0_335"/>
          <p:cNvSpPr txBox="1"/>
          <p:nvPr>
            <p:ph type="title"/>
          </p:nvPr>
        </p:nvSpPr>
        <p:spPr>
          <a:xfrm>
            <a:off x="415578" y="593367"/>
            <a:ext cx="1136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 of storing Actual data </a:t>
            </a:r>
            <a:endParaRPr lang="en-US"/>
          </a:p>
        </p:txBody>
      </p:sp>
      <p:sp>
        <p:nvSpPr>
          <p:cNvPr id="94" name="Google Shape;94;g3f6f82e0f2b_0_335"/>
          <p:cNvSpPr txBox="1"/>
          <p:nvPr>
            <p:ph type="body" idx="1"/>
          </p:nvPr>
        </p:nvSpPr>
        <p:spPr>
          <a:xfrm>
            <a:off x="415578" y="1442018"/>
            <a:ext cx="11360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ARTICLE 42: "NVIDIA Beats Q4 Earnings, Fed Signals Rate Cut"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├─ EVENT 100: "NVIDIA beats earnings" (EARNINGS)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  ├─ links to TREND 1000 (score: 0.95) → THEME 500: "AI Revolution"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  │                                    	├─ Semiconductors (+Positive, 0.95)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  │                                    	└─ Energy (-Negative, 0.70)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  │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  └─ links to TREND 1001 (score: 0.3) → THEME 501: "Monetary Tightening"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│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└─ EVENT 101: "Fed signals rate cut" (MACRO)</a:t>
            </a:r>
            <a:endParaRPr sz="16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-US" sz="1665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└─ links to TREND 1001 (score: 0.92) → THEME 501: "Monetary Tightening"</a:t>
            </a:r>
            <a:endParaRPr sz="22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+ Harness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731520" y="1143000"/>
            <a:ext cx="107898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Model: OpenAI GPT models accessed through LangChain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LLM use cases: news analysis, outlook generation, meeting summarization, talking points and signals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Harness: custom combination of pipeline.py + LangChain + SQLAlchemy + FastAPI + scheduler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project uses a lightweight custom orchestration layer rather than a dedicated autonomous-agent harness</a:t>
            </a:r>
            <a:endParaRPr sz="2600"/>
          </a:p>
        </p:txBody>
      </p:sp>
      <p:sp>
        <p:nvSpPr>
          <p:cNvPr id="101" name="Google Shape;101;p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4/20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Prompts &amp; System Instructions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731520" y="1143000"/>
            <a:ext cx="10789800" cy="3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2 uses task-specific prompts for event extraction, trend clustering, themes and sector/sentiment tagging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5 prompt combines client, portfolio, matched-theme and news context to generate an outlook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Steps 6–8 use specialized prompts for meeting and RM workflows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prompts combine role/instructions/context/task; a future improvement is explicit separation of system, developer, user and output instructions</a:t>
            </a:r>
            <a:endParaRPr sz="2600"/>
          </a:p>
        </p:txBody>
      </p:sp>
      <p:sp>
        <p:nvSpPr>
          <p:cNvPr id="108" name="Google Shape;108;p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5/20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 &amp; Memory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31520" y="1143000"/>
            <a:ext cx="107898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Persistent state is stored in the relational database through SQLAlchemy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state flows through entities such as NewsArticle → MarketEvent → Trend → Theme → ClientThemeMatch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Client, portfolio, holdings, preferences, meetings and generated outputs persist across runs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is persistent application memory—not conversational agent memory or vector memory</a:t>
            </a:r>
            <a:endParaRPr sz="2600"/>
          </a:p>
        </p:txBody>
      </p:sp>
      <p:sp>
        <p:nvSpPr>
          <p:cNvPr id="115" name="Google Shape;115;p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6/20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Guardrails &amp; Structured Output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731520" y="1143000"/>
            <a:ext cx="107898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Pydantic schemas constrain and validate LLM responses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Structured outputs make AI results usable by downstream database/API layers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Deterministic Step 8 scoring rules reduce unrestricted LLM control over signals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guardrails are basic; missing areas include prompt-injection protection, PII checks, hallucination validation and stronger financial-safety controls</a:t>
            </a:r>
            <a:endParaRPr sz="2600"/>
          </a:p>
        </p:txBody>
      </p:sp>
      <p:sp>
        <p:nvSpPr>
          <p:cNvPr id="122" name="Google Shape;122;p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7/20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Middleware &amp; Retries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731520" y="1143000"/>
            <a:ext cx="10789800" cy="3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FastAPI provides the application/API layer, but sophisticated agent middleware is not currently a major part of the design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exception handling is not equivalent to robust retry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Important improvement: retry failed LLM calls with exponential backoff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Track processing_status, retry_count, last_error and processed_at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 not mark an article as successfully processed when an LLM stage fails</a:t>
            </a:r>
            <a:endParaRPr sz="2600"/>
          </a:p>
        </p:txBody>
      </p:sp>
      <p:sp>
        <p:nvSpPr>
          <p:cNvPr id="129" name="Google Shape;129;p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8/20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Logging &amp; Observability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731520" y="1143000"/>
            <a:ext cx="107898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 logging provides basic execution/error visibility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logging is closer to application logs than full LLM observability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Recommended trace fields: trace_id, client_id, step, model, prompt version, latency, tokens, retries, validation status and errors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Future: centralized traces, cost monitoring and LLM evaluation</a:t>
            </a:r>
            <a:endParaRPr sz="2600"/>
          </a:p>
        </p:txBody>
      </p:sp>
      <p:sp>
        <p:nvSpPr>
          <p:cNvPr id="136" name="Google Shape;136;p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9/20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Agent Loop vs Workflow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731520" y="1143000"/>
            <a:ext cx="10789800" cy="3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architecture is primarily a deterministic workflow: Step 1 → Step 2 → Step 3 → Step 5 → Steps 6–8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true agent loop is Model → Tool → Result/State → Model → … → Final response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current system does not let an LLM dynamically choose the next step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finance, deterministic orchestration can be preferable because it improves control and auditability</a:t>
            </a:r>
            <a:endParaRPr sz="2600"/>
          </a:p>
        </p:txBody>
      </p:sp>
      <p:sp>
        <p:nvSpPr>
          <p:cNvPr id="143" name="Google Shape;143;p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10/20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Context Engineering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731520" y="1143000"/>
            <a:ext cx="10789800" cy="3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 of the strongest parts of the project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5 does not send a generic 'give me a market outlook' request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assembles relevant client context: portfolio + holdings + risk/preferences + matched themes + relevant news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Context is narrowed through the relational chain from client/theme matches back to relevant market information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enables personalized rather than generic LLM output</a:t>
            </a:r>
            <a:endParaRPr sz="2600"/>
          </a:p>
        </p:txBody>
      </p:sp>
      <p:sp>
        <p:nvSpPr>
          <p:cNvPr id="150" name="Google Shape;150;p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12/20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RAG / Retrieval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731520" y="1143000"/>
            <a:ext cx="10789800" cy="38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project does not implement classic vector RAG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primary flow of chunking → embeddings → vector database → similarity search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Instead it uses relational/database-driven retrieval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Client → ClientThemeMatch → Theme → Trend → MarketEvent → NewsArticle → LLM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Accurately describe this as database-driven contextual retrieval or RAG-like retrieval, not traditional vector RAG</a:t>
            </a:r>
            <a:endParaRPr sz="2600"/>
          </a:p>
        </p:txBody>
      </p:sp>
      <p:sp>
        <p:nvSpPr>
          <p:cNvPr id="157" name="Google Shape;157;p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13/20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Multi-Agent Assessment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731520" y="1143000"/>
            <a:ext cx="107898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repository contains multiple specialized AI stages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Market intelligence extraction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Client outlook generation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Meeting summarization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Talking-point generation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Recommendation/signal generation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Technically, these are closer to specialized AI workflow components than fully autonomous agents</a:t>
            </a:r>
            <a:endParaRPr sz="2600"/>
          </a:p>
        </p:txBody>
      </p:sp>
      <p:sp>
        <p:nvSpPr>
          <p:cNvPr id="164" name="Google Shape;164;p1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14/20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Human-in-the-Loop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731520" y="1143000"/>
            <a:ext cx="107898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generates market outlooks, talking points and signals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Relationship Manager consumes the outputs and makes the final decision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human-in-the-loop behavior is implicit rather than a formal approval workflow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Recommended: require explicit RM review before any strong investment action or recommendation is surfaced as actionable</a:t>
            </a:r>
            <a:endParaRPr sz="2600"/>
          </a:p>
        </p:txBody>
      </p:sp>
      <p:sp>
        <p:nvSpPr>
          <p:cNvPr id="171" name="Google Shape;171;p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15/20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Final Summary</a:t>
            </a:r>
            <a:endParaRPr lang="en-US" sz="28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731520" y="1143000"/>
            <a:ext cx="10789800" cy="56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Model: GPT via LangChain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Harness: custom pipeline + LangChain + DB + API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Prompts: specialized per AI task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State: relational database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Memory: persistent client/business data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Guardrails: structured outputs + deterministic rules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Tools: news, database, transcription, market data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Context engineering: portfolio + themes + relevant news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Agent loop: limited; mostly deterministic workflow</a:t>
            </a:r>
            <a:endParaRPr sz="260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 next step: production-grade reliability, security, observability and evaluation</a:t>
            </a:r>
            <a:endParaRPr sz="2600"/>
          </a:p>
        </p:txBody>
      </p:sp>
      <p:sp>
        <p:nvSpPr>
          <p:cNvPr id="178" name="Google Shape;178;p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Wealth RM Assistant • 20/20</a:t>
            </a:r>
            <a:endParaRPr lang="en-US"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f6f82e0f2b_0_3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152400"/>
            <a:ext cx="11886551" cy="5628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f82e0f2b_0_330"/>
          <p:cNvSpPr txBox="1"/>
          <p:nvPr>
            <p:ph type="body" idx="1"/>
          </p:nvPr>
        </p:nvSpPr>
        <p:spPr>
          <a:xfrm>
            <a:off x="415575" y="4618500"/>
            <a:ext cx="5148300" cy="1828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right now it is </a:t>
            </a:r>
            <a:r>
              <a:rPr lang="en-US"/>
              <a:t>tightly</a:t>
            </a:r>
            <a:r>
              <a:rPr lang="en-US"/>
              <a:t> coupled we  can make it like</a:t>
            </a:r>
            <a:endParaRPr lang="en-US"/>
          </a:p>
        </p:txBody>
      </p:sp>
      <p:pic>
        <p:nvPicPr>
          <p:cNvPr id="189" name="Google Shape;189;g3f6f82e0f2b_0_3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68725" y="209225"/>
            <a:ext cx="4946550" cy="596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5999</Words>
  <Application>WPS Presentation</Application>
  <PresentationFormat/>
  <Paragraphs>151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Arial</vt:lpstr>
      <vt:lpstr>Proxima Nova</vt:lpstr>
      <vt:lpstr>Calibri</vt:lpstr>
      <vt:lpstr>Microsoft YaHei</vt:lpstr>
      <vt:lpstr>Arial Unicode MS</vt:lpstr>
      <vt:lpstr>Spearmint</vt:lpstr>
      <vt:lpstr>Finance Pipeline</vt:lpstr>
      <vt:lpstr>PowerPoint 演示文稿</vt:lpstr>
      <vt:lpstr>PowerPoint 演示文稿</vt:lpstr>
      <vt:lpstr>PowerPoint 演示文稿</vt:lpstr>
      <vt:lpstr>PowerPoint 演示文稿</vt:lpstr>
      <vt:lpstr>DB Design</vt:lpstr>
      <vt:lpstr>Visual of storing Actual data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Pipeline</dc:title>
  <dc:creator/>
  <cp:lastModifiedBy>sadiya rafiq</cp:lastModifiedBy>
  <cp:revision>1</cp:revision>
  <dcterms:created xsi:type="dcterms:W3CDTF">2026-08-14T15:37:13Z</dcterms:created>
  <dcterms:modified xsi:type="dcterms:W3CDTF">2026-08-14T15:37:18Z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72D6E500AF53487AA1FE7368FF84C81D_12</vt:lpwstr>
  </property>
</Properties>
</file>