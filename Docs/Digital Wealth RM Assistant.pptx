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1F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Semiconductors</c:v>
                </c:pt>
                <c:pt idx="1">
                  <c:v>Technology</c:v>
                </c:pt>
                <c:pt idx="2">
                  <c:v>Financials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82</c:v>
                </c:pt>
                <c:pt idx="2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B1F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26443f8-cae9-4471-bc24-2937496630f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1F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Financials</c:v>
                </c:pt>
                <c:pt idx="1">
                  <c:v>Real Estate</c:v>
                </c:pt>
                <c:pt idx="2">
                  <c:v>Utilities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65</c:v>
                </c:pt>
                <c:pt idx="2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B1F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917cf24-3d4c-404b-a393-3cfac39337f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375"/>
          </a:solidFill>
        </p:spPr>
      </p:sp>
      <p:sp>
        <p:nvSpPr>
          <p:cNvPr id="3" name="Shape 1"/>
          <p:cNvSpPr/>
          <p:nvPr/>
        </p:nvSpPr>
        <p:spPr>
          <a:xfrm>
            <a:off x="10607040" y="-640080"/>
            <a:ext cx="2377440" cy="2377440"/>
          </a:xfrm>
          <a:prstGeom prst="ellipse">
            <a:avLst/>
          </a:prstGeom>
          <a:solidFill>
            <a:srgbClr val="2E3D8C"/>
          </a:solidFill>
        </p:spPr>
      </p:sp>
      <p:sp>
        <p:nvSpPr>
          <p:cNvPr id="4" name="Shape 2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5" name="Text 3"/>
          <p:cNvSpPr/>
          <p:nvPr/>
        </p:nvSpPr>
        <p:spPr>
          <a:xfrm>
            <a:off x="640080" y="66751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2380" dirty="0"/>
          </a:p>
        </p:txBody>
      </p:sp>
      <p:sp>
        <p:nvSpPr>
          <p:cNvPr id="6" name="Text 4"/>
          <p:cNvSpPr/>
          <p:nvPr/>
        </p:nvSpPr>
        <p:spPr>
          <a:xfrm>
            <a:off x="1463040" y="713232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 INTELLIGENCE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6868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Digital Wealth RM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Assistant, Powered by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Agentic AI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489204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market news into client-ready investment narratives — from Yahoo Finance RSS to sector-level portfolio insight.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https://github.com/sadiya-shaikh-21/Finance_Pipeline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RMs Are Drowning in Market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18562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Constant News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632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Wealth Relationship Managers must track markets continuously to stay credible with clients — but reading every headline doesn't scale.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</p:spPr>
      </p:sp>
      <p:sp>
        <p:nvSpPr>
          <p:cNvPr id="10" name="Shape 8"/>
          <p:cNvSpPr/>
          <p:nvPr/>
        </p:nvSpPr>
        <p:spPr>
          <a:xfrm>
            <a:off x="4754880" y="187452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754880" y="18562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⇄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Disconnected From Portfolios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30632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market commentary rarely maps cleanly onto what a specific client actually 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</p:spPr>
      </p:sp>
      <p:sp>
        <p:nvSpPr>
          <p:cNvPr id="15" name="Shape 13"/>
          <p:cNvSpPr/>
          <p:nvPr/>
        </p:nvSpPr>
        <p:spPr>
          <a:xfrm>
            <a:off x="8686800" y="187452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686800" y="18562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◉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Manual, Slow Synthesis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971800"/>
            <a:ext cx="30632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raw news into a themed, sector-level talking point today is a manual, time-consuming task.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193792"/>
            <a:ext cx="10332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agentic pipeline that reads the news for the RM — extracting events, spotting trends, naming investment themes, and scoring sector sentiment automatically.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News → Events → Trends → Themes → Sentiment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3172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685800" y="2130552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Yahoo Finance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834640"/>
            <a:ext cx="21122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market news feed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423160"/>
            <a:ext cx="502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33172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</p:spPr>
      </p:sp>
      <p:sp>
        <p:nvSpPr>
          <p:cNvPr id="9" name="Text 7"/>
          <p:cNvSpPr/>
          <p:nvPr/>
        </p:nvSpPr>
        <p:spPr>
          <a:xfrm>
            <a:off x="3520440" y="2130552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Ingest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834640"/>
            <a:ext cx="21122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feedparser + newspaper3k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pulls &amp; parses articles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2423160"/>
            <a:ext cx="502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233172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</p:spPr>
      </p:sp>
      <p:sp>
        <p:nvSpPr>
          <p:cNvPr id="13" name="Text 11"/>
          <p:cNvSpPr/>
          <p:nvPr/>
        </p:nvSpPr>
        <p:spPr>
          <a:xfrm>
            <a:off x="6355080" y="2130552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808" y="2834640"/>
            <a:ext cx="21122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Sonnet extracts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intelligence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0" y="2423160"/>
            <a:ext cx="502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89720" y="1965960"/>
            <a:ext cx="233172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9189720" y="2130552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SQLite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9448" y="2834640"/>
            <a:ext cx="21122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store, ready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 RM app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397764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EXTRACTS FOUR LAYERS OF INTELLIGENCE PER 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</p:spPr>
      </p:sp>
      <p:sp>
        <p:nvSpPr>
          <p:cNvPr id="21" name="Shape 19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914400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1663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 Events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Discrete, factual claims pulled from each article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47872" y="4389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</p:spPr>
      </p:sp>
      <p:sp>
        <p:nvSpPr>
          <p:cNvPr id="26" name="Shape 24"/>
          <p:cNvSpPr/>
          <p:nvPr/>
        </p:nvSpPr>
        <p:spPr>
          <a:xfrm>
            <a:off x="3776472" y="46177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3776472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776472" y="51663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Trends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76472" y="553212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Cross-article patterns linking related events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9944" y="4389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</p:spPr>
      </p:sp>
      <p:sp>
        <p:nvSpPr>
          <p:cNvPr id="31" name="Shape 29"/>
          <p:cNvSpPr/>
          <p:nvPr/>
        </p:nvSpPr>
        <p:spPr>
          <a:xfrm>
            <a:off x="6638544" y="46177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30"/>
          <p:cNvSpPr/>
          <p:nvPr/>
        </p:nvSpPr>
        <p:spPr>
          <a:xfrm>
            <a:off x="6638544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38544" y="51663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Themes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38544" y="553212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investment narratives built from trends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72016" y="4389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</p:spPr>
      </p:sp>
      <p:sp>
        <p:nvSpPr>
          <p:cNvPr id="36" name="Shape 34"/>
          <p:cNvSpPr/>
          <p:nvPr/>
        </p:nvSpPr>
        <p:spPr>
          <a:xfrm>
            <a:off x="9500616" y="46177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5"/>
          <p:cNvSpPr/>
          <p:nvPr/>
        </p:nvSpPr>
        <p:spPr>
          <a:xfrm>
            <a:off x="9500616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500616" y="51663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Sector Tags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500616" y="553212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 + sentiment score attached to each theme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Assistant, Three Repositories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19933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▢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Angular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063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Client-facing UI where the RM reviews AI-generated market outlooks alongside portfolio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4F6FB"/>
          </a:solidFill>
        </p:spPr>
      </p:sp>
      <p:sp>
        <p:nvSpPr>
          <p:cNvPr id="11" name="Shape 9"/>
          <p:cNvSpPr/>
          <p:nvPr/>
        </p:nvSpPr>
        <p:spPr>
          <a:xfrm>
            <a:off x="4754880" y="201168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4754880" y="19933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/ Spring Boot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3035808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3063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DTO layer and REST client integration; maps AI output into the RM app's domain model.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4F6FB"/>
          </a:solidFill>
        </p:spPr>
      </p:sp>
      <p:sp>
        <p:nvSpPr>
          <p:cNvPr id="17" name="Shape 15"/>
          <p:cNvSpPr/>
          <p:nvPr/>
        </p:nvSpPr>
        <p:spPr>
          <a:xfrm>
            <a:off x="8686800" y="201168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8686800" y="19933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◉</a:t>
            </a:r>
            <a:endParaRPr lang="en-US" sz="2210" dirty="0"/>
          </a:p>
        </p:txBody>
      </p:sp>
      <p:sp>
        <p:nvSpPr>
          <p:cNvPr id="19" name="Text 17"/>
          <p:cNvSpPr/>
          <p:nvPr/>
        </p:nvSpPr>
        <p:spPr>
          <a:xfrm>
            <a:off x="8686800" y="26974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/ FastAPI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0" y="3035808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3429000"/>
            <a:ext cx="3063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repository — the Finance Intelligence Pipeline — exposed as a read-only REST API.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wired together end-to-end so an AI-generated market outlook reaches the client screen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</p:spPr>
      </p:sp>
      <p:sp>
        <p:nvSpPr>
          <p:cNvPr id="24" name="Text 22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 schemas → snake_case-to-camelCase DTO mapping → Angular market-outlook 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News &amp; Market Intelligence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94360" y="192024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NewsArticle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source, title,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full_text, url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05456" y="210312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16352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</p:spPr>
      </p:sp>
      <p:sp>
        <p:nvSpPr>
          <p:cNvPr id="9" name="Text 7"/>
          <p:cNvSpPr/>
          <p:nvPr/>
        </p:nvSpPr>
        <p:spPr>
          <a:xfrm>
            <a:off x="2816352" y="192024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MarketEvent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07792" y="233172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event_text,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event_type, entities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7448" y="210312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38344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</p:spPr>
      </p:sp>
      <p:sp>
        <p:nvSpPr>
          <p:cNvPr id="13" name="Text 11"/>
          <p:cNvSpPr/>
          <p:nvPr/>
        </p:nvSpPr>
        <p:spPr>
          <a:xfrm>
            <a:off x="5038344" y="192024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9784" y="233172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direction,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first_seen_at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0" y="210312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0336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</p:spPr>
      </p:sp>
      <p:sp>
        <p:nvSpPr>
          <p:cNvPr id="17" name="Text 15"/>
          <p:cNvSpPr/>
          <p:nvPr/>
        </p:nvSpPr>
        <p:spPr>
          <a:xfrm>
            <a:off x="7260336" y="192024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51776" y="233172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82328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9482328" y="192024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SectorTag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73768" y="233172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sector, sentiment,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29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events roll into one trend; many trends roll into one theme — join tables (MarketEventTrend, TrendTheme) carry relevance and weight scores.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160520"/>
            <a:ext cx="1097280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</p:spPr>
      </p:sp>
      <p:sp>
        <p:nvSpPr>
          <p:cNvPr id="25" name="Text 23"/>
          <p:cNvSpPr/>
          <p:nvPr/>
        </p:nvSpPr>
        <p:spPr>
          <a:xfrm>
            <a:off x="914400" y="434340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SECTORTAG — THE OUTPUT THAT REACHES THE 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8463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sector_name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193792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Semiconductors, Financials, Utilities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66160" y="48463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5193792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/ Negative / Neutral / Mixed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48463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5193792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confidence score for the sector call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69680" y="48463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0" y="5193792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AI-generated justification text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Client &amp; Portfolio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85416" y="21945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04872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</p:spPr>
      </p:sp>
      <p:sp>
        <p:nvSpPr>
          <p:cNvPr id="8" name="Text 6"/>
          <p:cNvSpPr/>
          <p:nvPr/>
        </p:nvSpPr>
        <p:spPr>
          <a:xfrm>
            <a:off x="2404872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41648" y="21945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61104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</p:spPr>
      </p:sp>
      <p:sp>
        <p:nvSpPr>
          <p:cNvPr id="11" name="Text 9"/>
          <p:cNvSpPr/>
          <p:nvPr/>
        </p:nvSpPr>
        <p:spPr>
          <a:xfrm>
            <a:off x="4261104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21945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17336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</p:spPr>
      </p:sp>
      <p:sp>
        <p:nvSpPr>
          <p:cNvPr id="14" name="Text 12"/>
          <p:cNvSpPr/>
          <p:nvPr/>
        </p:nvSpPr>
        <p:spPr>
          <a:xfrm>
            <a:off x="6117336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Holding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54112" y="21945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73568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</p:spPr>
      </p:sp>
      <p:sp>
        <p:nvSpPr>
          <p:cNvPr id="17" name="Text 15"/>
          <p:cNvSpPr/>
          <p:nvPr/>
        </p:nvSpPr>
        <p:spPr>
          <a:xfrm>
            <a:off x="7973568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10344" y="21945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829800" y="19202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9829800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Master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client can hold several accounts; each account runs one or more portfolios of individual holdings, each holding tied to a security and its GICS sector.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</p:spPr>
      </p:sp>
      <p:sp>
        <p:nvSpPr>
          <p:cNvPr id="24" name="Shape 22"/>
          <p:cNvSpPr/>
          <p:nvPr/>
        </p:nvSpPr>
        <p:spPr>
          <a:xfrm>
            <a:off x="777240" y="4553712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7240" y="507492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Portfolio-Aware Matching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3154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matches sector-tagged themes directly against each client's actual holdings, not generic sectors.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4343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</p:spPr>
      </p:sp>
      <p:sp>
        <p:nvSpPr>
          <p:cNvPr id="29" name="Shape 27"/>
          <p:cNvSpPr/>
          <p:nvPr/>
        </p:nvSpPr>
        <p:spPr>
          <a:xfrm>
            <a:off x="4709160" y="4553712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8"/>
          <p:cNvSpPr/>
          <p:nvPr/>
        </p:nvSpPr>
        <p:spPr>
          <a:xfrm>
            <a:off x="4709160" y="45354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≡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09160" y="507492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Weighted Exposure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5440680"/>
            <a:ext cx="3154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Holding.weight_pct lets the assistant surface themes weighted by how much of the portfolio they actually touch.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12480" y="4343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</p:spPr>
      </p:sp>
      <p:sp>
        <p:nvSpPr>
          <p:cNvPr id="34" name="Shape 32"/>
          <p:cNvSpPr/>
          <p:nvPr/>
        </p:nvSpPr>
        <p:spPr>
          <a:xfrm>
            <a:off x="8641080" y="4553712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3"/>
          <p:cNvSpPr/>
          <p:nvPr/>
        </p:nvSpPr>
        <p:spPr>
          <a:xfrm>
            <a:off x="8641080" y="45354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641080" y="507492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Ready for the RM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41080" y="5440680"/>
            <a:ext cx="3154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Client, Account and Portfolio map 1:1 onto entities the Java/Angular layers already understand.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Investment Themes → Sector Sentiment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Revolution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adoption of generative AI across cloud, devices, and enterprise workflows.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468880"/>
          <a:ext cx="55778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Central Bank Policy Pivot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55080" y="205740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 signals rate cuts ahead as inflation moderates.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63640" y="2468880"/>
          <a:ext cx="55778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572000"/>
            <a:ext cx="112014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</p:spPr>
      </p:sp>
      <p:sp>
        <p:nvSpPr>
          <p:cNvPr id="11" name="Text 7"/>
          <p:cNvSpPr/>
          <p:nvPr/>
        </p:nvSpPr>
        <p:spPr>
          <a:xfrm>
            <a:off x="868680" y="47548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RM sees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run produces a short list of named investment themes, each broken into sector exposures with a sentiment label and a confidence bar — ready to drop into a client conversation without any manual synthesis.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 Stack &amp; Quick 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1577340" y="19202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1577340" y="190195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⌘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pipeline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</p:spPr>
      </p:sp>
      <p:sp>
        <p:nvSpPr>
          <p:cNvPr id="10" name="Shape 8"/>
          <p:cNvSpPr/>
          <p:nvPr/>
        </p:nvSpPr>
        <p:spPr>
          <a:xfrm>
            <a:off x="4439412" y="19202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439412" y="190195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◉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3547872" y="260604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Claude Sonnet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310896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extraction &amp; tagging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</p:spPr>
      </p:sp>
      <p:sp>
        <p:nvSpPr>
          <p:cNvPr id="15" name="Shape 13"/>
          <p:cNvSpPr/>
          <p:nvPr/>
        </p:nvSpPr>
        <p:spPr>
          <a:xfrm>
            <a:off x="7301484" y="19202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301484" y="190195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≡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6409944" y="260604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feedparser +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newspaper3k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310896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RSS ingestion &amp; parsing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</p:spPr>
      </p:sp>
      <p:sp>
        <p:nvSpPr>
          <p:cNvPr id="20" name="Shape 18"/>
          <p:cNvSpPr/>
          <p:nvPr/>
        </p:nvSpPr>
        <p:spPr>
          <a:xfrm>
            <a:off x="10163556" y="19202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10163556" y="190195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⌘</a:t>
            </a:r>
            <a:endParaRPr lang="en-US" sz="2040" dirty="0"/>
          </a:p>
        </p:txBody>
      </p:sp>
      <p:sp>
        <p:nvSpPr>
          <p:cNvPr id="22" name="Text 20"/>
          <p:cNvSpPr/>
          <p:nvPr/>
        </p:nvSpPr>
        <p:spPr>
          <a:xfrm>
            <a:off x="9272016" y="260604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SQLite /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310896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storage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6" name="Text 24"/>
          <p:cNvSpPr/>
          <p:nvPr/>
        </p:nvSpPr>
        <p:spPr>
          <a:xfrm>
            <a:off x="548640" y="409651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90" dirty="0"/>
          </a:p>
        </p:txBody>
      </p:sp>
      <p:sp>
        <p:nvSpPr>
          <p:cNvPr id="27" name="Text 25"/>
          <p:cNvSpPr/>
          <p:nvPr/>
        </p:nvSpPr>
        <p:spPr>
          <a:xfrm>
            <a:off x="1005840" y="4096512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98848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9" name="Text 27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90" dirty="0"/>
          </a:p>
        </p:txBody>
      </p:sp>
      <p:sp>
        <p:nvSpPr>
          <p:cNvPr id="30" name="Text 28"/>
          <p:cNvSpPr/>
          <p:nvPr/>
        </p:nvSpPr>
        <p:spPr>
          <a:xfrm>
            <a:off x="1005840" y="4480560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 ANTHROPIC_API_KEY=sk-ant-...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82896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2" name="Text 30"/>
          <p:cNvSpPr/>
          <p:nvPr/>
        </p:nvSpPr>
        <p:spPr>
          <a:xfrm>
            <a:off x="548640" y="486460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1005840" y="4864608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pipeline.py --init-db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5" name="Text 33"/>
          <p:cNvSpPr/>
          <p:nvPr/>
        </p:nvSpPr>
        <p:spPr>
          <a:xfrm>
            <a:off x="548640" y="5248656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90" dirty="0"/>
          </a:p>
        </p:txBody>
      </p:sp>
      <p:sp>
        <p:nvSpPr>
          <p:cNvPr id="36" name="Text 34"/>
          <p:cNvSpPr/>
          <p:nvPr/>
        </p:nvSpPr>
        <p:spPr>
          <a:xfrm>
            <a:off x="1005840" y="5248656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pipeline.py --seed-demo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650992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8" name="Text 36"/>
          <p:cNvSpPr/>
          <p:nvPr/>
        </p:nvSpPr>
        <p:spPr>
          <a:xfrm>
            <a:off x="548640" y="563270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90" dirty="0"/>
          </a:p>
        </p:txBody>
      </p:sp>
      <p:sp>
        <p:nvSpPr>
          <p:cNvPr id="39" name="Text 37"/>
          <p:cNvSpPr/>
          <p:nvPr/>
        </p:nvSpPr>
        <p:spPr>
          <a:xfrm>
            <a:off x="1005840" y="5632704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pipeline.py --run-once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035040"/>
            <a:ext cx="292608" cy="29260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1" name="Text 39"/>
          <p:cNvSpPr/>
          <p:nvPr/>
        </p:nvSpPr>
        <p:spPr>
          <a:xfrm>
            <a:off x="548640" y="60167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90" dirty="0"/>
          </a:p>
        </p:txBody>
      </p:sp>
      <p:sp>
        <p:nvSpPr>
          <p:cNvPr id="42" name="Text 40"/>
          <p:cNvSpPr/>
          <p:nvPr/>
        </p:nvSpPr>
        <p:spPr>
          <a:xfrm>
            <a:off x="1005840" y="6016752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pipeline.py     (scheduled, every 30 min)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STANDS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Focus &amp; Recent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914400" y="184708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Connecting the market outlook pipeline end-to-end — FastAPI → Java DTOs → Angular — so AI-generated outlooks reach the RM's screen.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PROGRESS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</p:spPr>
      </p:sp>
      <p:sp>
        <p:nvSpPr>
          <p:cNvPr id="9" name="Text 7"/>
          <p:cNvSpPr/>
          <p:nvPr/>
        </p:nvSpPr>
        <p:spPr>
          <a:xfrm>
            <a:off x="777240" y="3493008"/>
            <a:ext cx="4983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Advisor Prompt Tuning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4983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Reworked headline_outlook framing and added an Increase / Decrease / Neutral status field to each driver.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338328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</p:spPr>
      </p:sp>
      <p:sp>
        <p:nvSpPr>
          <p:cNvPr id="12" name="Text 10"/>
          <p:cNvSpPr/>
          <p:nvPr/>
        </p:nvSpPr>
        <p:spPr>
          <a:xfrm>
            <a:off x="6492240" y="3493008"/>
            <a:ext cx="4983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 Bring-Up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822192"/>
            <a:ext cx="4983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app running locally on Windows via Git Bash; CLI PATH issues resolved.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</p:spPr>
      </p:sp>
      <p:sp>
        <p:nvSpPr>
          <p:cNvPr id="15" name="Text 13"/>
          <p:cNvSpPr/>
          <p:nvPr/>
        </p:nvSpPr>
        <p:spPr>
          <a:xfrm>
            <a:off x="777240" y="4910328"/>
            <a:ext cx="4983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API Surface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39512"/>
            <a:ext cx="4983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Stub /meeting/view endpoint added to FastAPI with CORS configured for local development.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480060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</p:spPr>
      </p:sp>
      <p:sp>
        <p:nvSpPr>
          <p:cNvPr id="18" name="Text 16"/>
          <p:cNvSpPr/>
          <p:nvPr/>
        </p:nvSpPr>
        <p:spPr>
          <a:xfrm>
            <a:off x="6492240" y="4910328"/>
            <a:ext cx="4983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Theme De-duplication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239512"/>
            <a:ext cx="4983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LLM name variation across runs; solution combines prompt-based naming with embedding similarity checks.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Wealth RM Assistant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263375"/>
          </a:solidFill>
        </p:spPr>
      </p:sp>
      <p:sp>
        <p:nvSpPr>
          <p:cNvPr id="3" name="Shape 1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/>
          <p:nvPr/>
        </p:nvSpPr>
        <p:spPr>
          <a:xfrm>
            <a:off x="640080" y="66751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2380" dirty="0"/>
          </a:p>
        </p:txBody>
      </p:sp>
      <p:sp>
        <p:nvSpPr>
          <p:cNvPr id="5" name="Text 3"/>
          <p:cNvSpPr/>
          <p:nvPr/>
        </p:nvSpPr>
        <p:spPr>
          <a:xfrm>
            <a:off x="1463040" y="713232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 INTELLIGENCE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Market Noise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 Client-Ready Insight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agentic AI pipeline that gives every Wealth Relationship Manager a research analyst on call.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7406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https://github.com/sadiya-shaikh-21/Finance_Pipeline</a:t>
            </a:r>
            <a:endParaRPr lang="en-US" altLang="en-US" sz="1300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5149</Words>
  <Application>WPS Presentation</Application>
  <PresentationFormat>On-screen Show (16:9)</PresentationFormat>
  <Paragraphs>376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Arial</vt:lpstr>
      <vt:lpstr>Courier New</vt:lpstr>
      <vt:lpstr>Courier New</vt:lpstr>
      <vt:lpstr>Courier New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sadiya rafiq</cp:lastModifiedBy>
  <cp:revision>3</cp:revision>
  <dcterms:created xsi:type="dcterms:W3CDTF">2026-08-14T06:21:00Z</dcterms:created>
  <dcterms:modified xsi:type="dcterms:W3CDTF">2026-08-14T06:40:57Z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F13B1384E1A1435F935660792863482E_12</vt:lpwstr>
  </property>
  <property fmtid="{D5CDD505-2E9C-101B-9397-08002B2CF9AE}" pid="3" name="KSOProductBuildVer">
    <vt:lpwstr>1033-12.1.0.28032</vt:lpwstr>
  </property>
</Properties>
</file>