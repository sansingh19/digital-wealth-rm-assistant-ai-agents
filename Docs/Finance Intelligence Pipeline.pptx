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705548-EC84-4829-9A15-988AFA6EAF68}" v="2" dt="2026-06-15T08:51:09.2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ikh, Sadiya (Cognizant)" userId="b2cf6063-50fe-49b3-84ad-cf41feb7ebd4" providerId="ADAL" clId="{21300D13-CBBC-4724-996C-6FC8704FE020}"/>
    <pc:docChg chg="undo custSel addSld delSld modSld">
      <pc:chgData name="Shaikh, Sadiya (Cognizant)" userId="b2cf6063-50fe-49b3-84ad-cf41feb7ebd4" providerId="ADAL" clId="{21300D13-CBBC-4724-996C-6FC8704FE020}" dt="2026-06-15T08:51:46.653" v="218" actId="14100"/>
      <pc:docMkLst>
        <pc:docMk/>
      </pc:docMkLst>
      <pc:sldChg chg="modSp mod">
        <pc:chgData name="Shaikh, Sadiya (Cognizant)" userId="b2cf6063-50fe-49b3-84ad-cf41feb7ebd4" providerId="ADAL" clId="{21300D13-CBBC-4724-996C-6FC8704FE020}" dt="2026-06-11T19:58:16.829" v="186" actId="20577"/>
        <pc:sldMkLst>
          <pc:docMk/>
          <pc:sldMk cId="4246048232" sldId="260"/>
        </pc:sldMkLst>
        <pc:spChg chg="mod">
          <ac:chgData name="Shaikh, Sadiya (Cognizant)" userId="b2cf6063-50fe-49b3-84ad-cf41feb7ebd4" providerId="ADAL" clId="{21300D13-CBBC-4724-996C-6FC8704FE020}" dt="2026-06-11T19:58:16.829" v="186" actId="20577"/>
          <ac:spMkLst>
            <pc:docMk/>
            <pc:sldMk cId="4246048232" sldId="260"/>
            <ac:spMk id="3" creationId="{C2126C53-AFC6-5172-002E-0BF81BEF60E5}"/>
          </ac:spMkLst>
        </pc:spChg>
      </pc:sldChg>
      <pc:sldChg chg="addSp modSp new mod">
        <pc:chgData name="Shaikh, Sadiya (Cognizant)" userId="b2cf6063-50fe-49b3-84ad-cf41feb7ebd4" providerId="ADAL" clId="{21300D13-CBBC-4724-996C-6FC8704FE020}" dt="2026-06-11T11:18:20.309" v="103" actId="20577"/>
        <pc:sldMkLst>
          <pc:docMk/>
          <pc:sldMk cId="2189089348" sldId="261"/>
        </pc:sldMkLst>
        <pc:spChg chg="mod">
          <ac:chgData name="Shaikh, Sadiya (Cognizant)" userId="b2cf6063-50fe-49b3-84ad-cf41feb7ebd4" providerId="ADAL" clId="{21300D13-CBBC-4724-996C-6FC8704FE020}" dt="2026-06-11T11:12:35.062" v="10" actId="20577"/>
          <ac:spMkLst>
            <pc:docMk/>
            <pc:sldMk cId="2189089348" sldId="261"/>
            <ac:spMk id="2" creationId="{AC1602A4-BCB1-44AA-0F9A-14DBD3B97DAE}"/>
          </ac:spMkLst>
        </pc:spChg>
        <pc:spChg chg="mod">
          <ac:chgData name="Shaikh, Sadiya (Cognizant)" userId="b2cf6063-50fe-49b3-84ad-cf41feb7ebd4" providerId="ADAL" clId="{21300D13-CBBC-4724-996C-6FC8704FE020}" dt="2026-06-11T11:15:13.435" v="99" actId="20577"/>
          <ac:spMkLst>
            <pc:docMk/>
            <pc:sldMk cId="2189089348" sldId="261"/>
            <ac:spMk id="3" creationId="{03F02EE1-A49F-30CB-7C82-EE0641FCDEFE}"/>
          </ac:spMkLst>
        </pc:spChg>
        <pc:spChg chg="add mod">
          <ac:chgData name="Shaikh, Sadiya (Cognizant)" userId="b2cf6063-50fe-49b3-84ad-cf41feb7ebd4" providerId="ADAL" clId="{21300D13-CBBC-4724-996C-6FC8704FE020}" dt="2026-06-11T11:18:20.309" v="103" actId="20577"/>
          <ac:spMkLst>
            <pc:docMk/>
            <pc:sldMk cId="2189089348" sldId="261"/>
            <ac:spMk id="4" creationId="{04BC887D-E4DB-1DB0-15EC-DA40E198A752}"/>
          </ac:spMkLst>
        </pc:spChg>
      </pc:sldChg>
      <pc:sldChg chg="addSp delSp modSp new mod">
        <pc:chgData name="Shaikh, Sadiya (Cognizant)" userId="b2cf6063-50fe-49b3-84ad-cf41feb7ebd4" providerId="ADAL" clId="{21300D13-CBBC-4724-996C-6FC8704FE020}" dt="2026-06-12T05:22:59.014" v="190" actId="14100"/>
        <pc:sldMkLst>
          <pc:docMk/>
          <pc:sldMk cId="2863026929" sldId="262"/>
        </pc:sldMkLst>
        <pc:spChg chg="mod">
          <ac:chgData name="Shaikh, Sadiya (Cognizant)" userId="b2cf6063-50fe-49b3-84ad-cf41feb7ebd4" providerId="ADAL" clId="{21300D13-CBBC-4724-996C-6FC8704FE020}" dt="2026-06-12T05:22:59.014" v="190" actId="14100"/>
          <ac:spMkLst>
            <pc:docMk/>
            <pc:sldMk cId="2863026929" sldId="262"/>
            <ac:spMk id="3" creationId="{66AAB8D0-CD4C-D72F-AB43-BC456B4462DB}"/>
          </ac:spMkLst>
        </pc:spChg>
      </pc:sldChg>
      <pc:sldChg chg="modSp new mod">
        <pc:chgData name="Shaikh, Sadiya (Cognizant)" userId="b2cf6063-50fe-49b3-84ad-cf41feb7ebd4" providerId="ADAL" clId="{21300D13-CBBC-4724-996C-6FC8704FE020}" dt="2026-06-12T05:23:31.561" v="204" actId="20577"/>
        <pc:sldMkLst>
          <pc:docMk/>
          <pc:sldMk cId="2319472042" sldId="263"/>
        </pc:sldMkLst>
        <pc:spChg chg="mod">
          <ac:chgData name="Shaikh, Sadiya (Cognizant)" userId="b2cf6063-50fe-49b3-84ad-cf41feb7ebd4" providerId="ADAL" clId="{21300D13-CBBC-4724-996C-6FC8704FE020}" dt="2026-06-12T05:23:31.561" v="204" actId="20577"/>
          <ac:spMkLst>
            <pc:docMk/>
            <pc:sldMk cId="2319472042" sldId="263"/>
            <ac:spMk id="2" creationId="{85D8D418-181A-E65B-5927-7E7D01C4FBE0}"/>
          </ac:spMkLst>
        </pc:spChg>
        <pc:spChg chg="mod">
          <ac:chgData name="Shaikh, Sadiya (Cognizant)" userId="b2cf6063-50fe-49b3-84ad-cf41feb7ebd4" providerId="ADAL" clId="{21300D13-CBBC-4724-996C-6FC8704FE020}" dt="2026-06-12T05:23:26.852" v="202" actId="12"/>
          <ac:spMkLst>
            <pc:docMk/>
            <pc:sldMk cId="2319472042" sldId="263"/>
            <ac:spMk id="3" creationId="{C5CD0DED-15C1-372B-90DA-92CDE2AA7865}"/>
          </ac:spMkLst>
        </pc:spChg>
      </pc:sldChg>
      <pc:sldChg chg="addSp delSp modSp new mod setBg">
        <pc:chgData name="Shaikh, Sadiya (Cognizant)" userId="b2cf6063-50fe-49b3-84ad-cf41feb7ebd4" providerId="ADAL" clId="{21300D13-CBBC-4724-996C-6FC8704FE020}" dt="2026-06-15T08:51:46.653" v="218" actId="14100"/>
        <pc:sldMkLst>
          <pc:docMk/>
          <pc:sldMk cId="2101009870" sldId="264"/>
        </pc:sldMkLst>
        <pc:spChg chg="mod">
          <ac:chgData name="Shaikh, Sadiya (Cognizant)" userId="b2cf6063-50fe-49b3-84ad-cf41feb7ebd4" providerId="ADAL" clId="{21300D13-CBBC-4724-996C-6FC8704FE020}" dt="2026-06-15T08:51:32.302" v="217" actId="26606"/>
          <ac:spMkLst>
            <pc:docMk/>
            <pc:sldMk cId="2101009870" sldId="264"/>
            <ac:spMk id="2" creationId="{4E53024E-85F3-F22F-F31B-5159251B73FC}"/>
          </ac:spMkLst>
        </pc:spChg>
        <pc:spChg chg="del">
          <ac:chgData name="Shaikh, Sadiya (Cognizant)" userId="b2cf6063-50fe-49b3-84ad-cf41feb7ebd4" providerId="ADAL" clId="{21300D13-CBBC-4724-996C-6FC8704FE020}" dt="2026-06-15T08:51:09.225" v="210"/>
          <ac:spMkLst>
            <pc:docMk/>
            <pc:sldMk cId="2101009870" sldId="264"/>
            <ac:spMk id="3" creationId="{98DBB2C9-FF76-8EF4-3954-30A00B7AF810}"/>
          </ac:spMkLst>
        </pc:spChg>
        <pc:spChg chg="add del">
          <ac:chgData name="Shaikh, Sadiya (Cognizant)" userId="b2cf6063-50fe-49b3-84ad-cf41feb7ebd4" providerId="ADAL" clId="{21300D13-CBBC-4724-996C-6FC8704FE020}" dt="2026-06-15T08:51:20.433" v="212" actId="26606"/>
          <ac:spMkLst>
            <pc:docMk/>
            <pc:sldMk cId="2101009870" sldId="264"/>
            <ac:spMk id="9" creationId="{BACC6370-2D7E-4714-9D71-7542949D7D5D}"/>
          </ac:spMkLst>
        </pc:spChg>
        <pc:spChg chg="add del">
          <ac:chgData name="Shaikh, Sadiya (Cognizant)" userId="b2cf6063-50fe-49b3-84ad-cf41feb7ebd4" providerId="ADAL" clId="{21300D13-CBBC-4724-996C-6FC8704FE020}" dt="2026-06-15T08:51:20.433" v="212" actId="26606"/>
          <ac:spMkLst>
            <pc:docMk/>
            <pc:sldMk cId="2101009870" sldId="264"/>
            <ac:spMk id="11" creationId="{F68B3F68-107C-434F-AA38-110D5EA91B85}"/>
          </ac:spMkLst>
        </pc:spChg>
        <pc:spChg chg="add del">
          <ac:chgData name="Shaikh, Sadiya (Cognizant)" userId="b2cf6063-50fe-49b3-84ad-cf41feb7ebd4" providerId="ADAL" clId="{21300D13-CBBC-4724-996C-6FC8704FE020}" dt="2026-06-15T08:51:20.433" v="212" actId="26606"/>
          <ac:spMkLst>
            <pc:docMk/>
            <pc:sldMk cId="2101009870" sldId="264"/>
            <ac:spMk id="13" creationId="{AAD0DBB9-1A4B-4391-81D4-CB19F9AB918A}"/>
          </ac:spMkLst>
        </pc:spChg>
        <pc:spChg chg="add del">
          <ac:chgData name="Shaikh, Sadiya (Cognizant)" userId="b2cf6063-50fe-49b3-84ad-cf41feb7ebd4" providerId="ADAL" clId="{21300D13-CBBC-4724-996C-6FC8704FE020}" dt="2026-06-15T08:51:20.433" v="212" actId="26606"/>
          <ac:spMkLst>
            <pc:docMk/>
            <pc:sldMk cId="2101009870" sldId="264"/>
            <ac:spMk id="15" creationId="{063BBA22-50EA-4C4D-BE05-F1CE4E63AA56}"/>
          </ac:spMkLst>
        </pc:spChg>
        <pc:spChg chg="add del">
          <ac:chgData name="Shaikh, Sadiya (Cognizant)" userId="b2cf6063-50fe-49b3-84ad-cf41feb7ebd4" providerId="ADAL" clId="{21300D13-CBBC-4724-996C-6FC8704FE020}" dt="2026-06-15T08:51:23.419" v="214" actId="26606"/>
          <ac:spMkLst>
            <pc:docMk/>
            <pc:sldMk cId="2101009870" sldId="264"/>
            <ac:spMk id="17" creationId="{7DA1F35B-C8F7-4A5A-9339-7DA4D785B300}"/>
          </ac:spMkLst>
        </pc:spChg>
        <pc:spChg chg="add del">
          <ac:chgData name="Shaikh, Sadiya (Cognizant)" userId="b2cf6063-50fe-49b3-84ad-cf41feb7ebd4" providerId="ADAL" clId="{21300D13-CBBC-4724-996C-6FC8704FE020}" dt="2026-06-15T08:51:23.419" v="214" actId="26606"/>
          <ac:spMkLst>
            <pc:docMk/>
            <pc:sldMk cId="2101009870" sldId="264"/>
            <ac:spMk id="18" creationId="{B2D4AD41-40DA-4A81-92F5-B6E3BA1ED82A}"/>
          </ac:spMkLst>
        </pc:spChg>
        <pc:spChg chg="add del">
          <ac:chgData name="Shaikh, Sadiya (Cognizant)" userId="b2cf6063-50fe-49b3-84ad-cf41feb7ebd4" providerId="ADAL" clId="{21300D13-CBBC-4724-996C-6FC8704FE020}" dt="2026-06-15T08:51:32.286" v="216" actId="26606"/>
          <ac:spMkLst>
            <pc:docMk/>
            <pc:sldMk cId="2101009870" sldId="264"/>
            <ac:spMk id="20" creationId="{924D84CD-5280-4B52-B96E-8EDAA2B20C51}"/>
          </ac:spMkLst>
        </pc:spChg>
        <pc:spChg chg="add del">
          <ac:chgData name="Shaikh, Sadiya (Cognizant)" userId="b2cf6063-50fe-49b3-84ad-cf41feb7ebd4" providerId="ADAL" clId="{21300D13-CBBC-4724-996C-6FC8704FE020}" dt="2026-06-15T08:51:32.286" v="216" actId="26606"/>
          <ac:spMkLst>
            <pc:docMk/>
            <pc:sldMk cId="2101009870" sldId="264"/>
            <ac:spMk id="21" creationId="{6BC8DD5A-2177-6753-E2F9-C07A00190B7A}"/>
          </ac:spMkLst>
        </pc:spChg>
        <pc:spChg chg="add">
          <ac:chgData name="Shaikh, Sadiya (Cognizant)" userId="b2cf6063-50fe-49b3-84ad-cf41feb7ebd4" providerId="ADAL" clId="{21300D13-CBBC-4724-996C-6FC8704FE020}" dt="2026-06-15T08:51:32.302" v="217" actId="26606"/>
          <ac:spMkLst>
            <pc:docMk/>
            <pc:sldMk cId="2101009870" sldId="264"/>
            <ac:spMk id="23" creationId="{7DA1F35B-C8F7-4A5A-9339-7DA4D785B300}"/>
          </ac:spMkLst>
        </pc:spChg>
        <pc:spChg chg="add">
          <ac:chgData name="Shaikh, Sadiya (Cognizant)" userId="b2cf6063-50fe-49b3-84ad-cf41feb7ebd4" providerId="ADAL" clId="{21300D13-CBBC-4724-996C-6FC8704FE020}" dt="2026-06-15T08:51:32.302" v="217" actId="26606"/>
          <ac:spMkLst>
            <pc:docMk/>
            <pc:sldMk cId="2101009870" sldId="264"/>
            <ac:spMk id="24" creationId="{B2D4AD41-40DA-4A81-92F5-B6E3BA1ED82A}"/>
          </ac:spMkLst>
        </pc:spChg>
        <pc:graphicFrameChg chg="add mod modGraphic">
          <ac:chgData name="Shaikh, Sadiya (Cognizant)" userId="b2cf6063-50fe-49b3-84ad-cf41feb7ebd4" providerId="ADAL" clId="{21300D13-CBBC-4724-996C-6FC8704FE020}" dt="2026-06-15T08:51:46.653" v="218" actId="14100"/>
          <ac:graphicFrameMkLst>
            <pc:docMk/>
            <pc:sldMk cId="2101009870" sldId="264"/>
            <ac:graphicFrameMk id="4" creationId="{9D4A882D-5C2A-C457-CEE6-5874ED28AF93}"/>
          </ac:graphicFrameMkLst>
        </pc:graphicFrameChg>
      </pc:sldChg>
      <pc:sldChg chg="new del">
        <pc:chgData name="Shaikh, Sadiya (Cognizant)" userId="b2cf6063-50fe-49b3-84ad-cf41feb7ebd4" providerId="ADAL" clId="{21300D13-CBBC-4724-996C-6FC8704FE020}" dt="2026-06-15T08:50:39.218" v="206" actId="47"/>
        <pc:sldMkLst>
          <pc:docMk/>
          <pc:sldMk cId="3583001403" sldId="264"/>
        </pc:sldMkLst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A47D971-AA2F-4DD1-A1F9-0610D568238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BC4A1B9-1DD8-421A-98D4-A7D58D3A7707}">
      <dgm:prSet/>
      <dgm:spPr/>
      <dgm:t>
        <a:bodyPr/>
        <a:lstStyle/>
        <a:p>
          <a:r>
            <a:rPr lang="en-US" dirty="0"/>
            <a:t>This is a sophisticated </a:t>
          </a:r>
          <a:r>
            <a:rPr lang="en-US" b="1" dirty="0"/>
            <a:t>end-to-end data pipeline</a:t>
          </a:r>
          <a:r>
            <a:rPr lang="en-US" dirty="0"/>
            <a:t> that transforms financial news into actionable investment intelligence.</a:t>
          </a:r>
        </a:p>
      </dgm:t>
    </dgm:pt>
    <dgm:pt modelId="{54B33016-CE58-48ED-97E5-789104F9D19C}" type="parTrans" cxnId="{A88E07D6-464D-4133-A024-23C6FE21820F}">
      <dgm:prSet/>
      <dgm:spPr/>
      <dgm:t>
        <a:bodyPr/>
        <a:lstStyle/>
        <a:p>
          <a:endParaRPr lang="en-US"/>
        </a:p>
      </dgm:t>
    </dgm:pt>
    <dgm:pt modelId="{0BADD9A8-EFFB-40EB-BC96-4EF8D8894D52}" type="sibTrans" cxnId="{A88E07D6-464D-4133-A024-23C6FE21820F}">
      <dgm:prSet/>
      <dgm:spPr/>
      <dgm:t>
        <a:bodyPr/>
        <a:lstStyle/>
        <a:p>
          <a:endParaRPr lang="en-US"/>
        </a:p>
      </dgm:t>
    </dgm:pt>
    <dgm:pt modelId="{07AF671B-0E28-4417-9AB6-E3FE578C96A4}">
      <dgm:prSet/>
      <dgm:spPr/>
      <dgm:t>
        <a:bodyPr/>
        <a:lstStyle/>
        <a:p>
          <a:r>
            <a:rPr lang="en-US"/>
            <a:t>The pipeline ingests financial news from Yahoo Finance RSS feeds and uses AI to extract meaningful market intelligence, organizing it into investment themes with sector sentiment analysis.</a:t>
          </a:r>
        </a:p>
      </dgm:t>
    </dgm:pt>
    <dgm:pt modelId="{E4DC904D-18E6-45D5-BCA1-E985C96E53EF}" type="parTrans" cxnId="{E9C52AED-5908-4FE3-B2AC-8418CB558C2E}">
      <dgm:prSet/>
      <dgm:spPr/>
      <dgm:t>
        <a:bodyPr/>
        <a:lstStyle/>
        <a:p>
          <a:endParaRPr lang="en-US"/>
        </a:p>
      </dgm:t>
    </dgm:pt>
    <dgm:pt modelId="{C3471AE5-4CC9-4B53-A8A6-F449D87A5C0D}" type="sibTrans" cxnId="{E9C52AED-5908-4FE3-B2AC-8418CB558C2E}">
      <dgm:prSet/>
      <dgm:spPr/>
      <dgm:t>
        <a:bodyPr/>
        <a:lstStyle/>
        <a:p>
          <a:endParaRPr lang="en-US"/>
        </a:p>
      </dgm:t>
    </dgm:pt>
    <dgm:pt modelId="{05DEA9E9-A026-49D3-A09A-0641D05A0627}" type="pres">
      <dgm:prSet presAssocID="{7A47D971-AA2F-4DD1-A1F9-0610D568238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6B1ABFB-2AD0-4829-A17B-EE59F431222B}" type="pres">
      <dgm:prSet presAssocID="{ABC4A1B9-1DD8-421A-98D4-A7D58D3A7707}" presName="hierRoot1" presStyleCnt="0"/>
      <dgm:spPr/>
    </dgm:pt>
    <dgm:pt modelId="{381774CF-0F2B-41CD-9383-3E469312B878}" type="pres">
      <dgm:prSet presAssocID="{ABC4A1B9-1DD8-421A-98D4-A7D58D3A7707}" presName="composite" presStyleCnt="0"/>
      <dgm:spPr/>
    </dgm:pt>
    <dgm:pt modelId="{A2598183-B625-4DE9-BAF2-517AA14C221B}" type="pres">
      <dgm:prSet presAssocID="{ABC4A1B9-1DD8-421A-98D4-A7D58D3A7707}" presName="background" presStyleLbl="node0" presStyleIdx="0" presStyleCnt="2"/>
      <dgm:spPr/>
    </dgm:pt>
    <dgm:pt modelId="{054FB8B6-0D8B-40C4-BCC5-AAF55DEFC61E}" type="pres">
      <dgm:prSet presAssocID="{ABC4A1B9-1DD8-421A-98D4-A7D58D3A7707}" presName="text" presStyleLbl="fgAcc0" presStyleIdx="0" presStyleCnt="2">
        <dgm:presLayoutVars>
          <dgm:chPref val="3"/>
        </dgm:presLayoutVars>
      </dgm:prSet>
      <dgm:spPr/>
    </dgm:pt>
    <dgm:pt modelId="{C8B2E2DB-B519-4868-BF93-DFAF715EAEF8}" type="pres">
      <dgm:prSet presAssocID="{ABC4A1B9-1DD8-421A-98D4-A7D58D3A7707}" presName="hierChild2" presStyleCnt="0"/>
      <dgm:spPr/>
    </dgm:pt>
    <dgm:pt modelId="{2897D2D1-EF22-4ACA-B7C0-31E2F349ABE3}" type="pres">
      <dgm:prSet presAssocID="{07AF671B-0E28-4417-9AB6-E3FE578C96A4}" presName="hierRoot1" presStyleCnt="0"/>
      <dgm:spPr/>
    </dgm:pt>
    <dgm:pt modelId="{987DACE8-AF3A-49A9-80D3-6BDC04E202BE}" type="pres">
      <dgm:prSet presAssocID="{07AF671B-0E28-4417-9AB6-E3FE578C96A4}" presName="composite" presStyleCnt="0"/>
      <dgm:spPr/>
    </dgm:pt>
    <dgm:pt modelId="{8668DF21-3CE8-4EDC-A9CF-4BD766C54CEC}" type="pres">
      <dgm:prSet presAssocID="{07AF671B-0E28-4417-9AB6-E3FE578C96A4}" presName="background" presStyleLbl="node0" presStyleIdx="1" presStyleCnt="2"/>
      <dgm:spPr/>
    </dgm:pt>
    <dgm:pt modelId="{1AF998DE-16D8-4951-AC82-7A3AA382BD3E}" type="pres">
      <dgm:prSet presAssocID="{07AF671B-0E28-4417-9AB6-E3FE578C96A4}" presName="text" presStyleLbl="fgAcc0" presStyleIdx="1" presStyleCnt="2">
        <dgm:presLayoutVars>
          <dgm:chPref val="3"/>
        </dgm:presLayoutVars>
      </dgm:prSet>
      <dgm:spPr/>
    </dgm:pt>
    <dgm:pt modelId="{242951EE-9865-4532-ADCD-8D71472EA0ED}" type="pres">
      <dgm:prSet presAssocID="{07AF671B-0E28-4417-9AB6-E3FE578C96A4}" presName="hierChild2" presStyleCnt="0"/>
      <dgm:spPr/>
    </dgm:pt>
  </dgm:ptLst>
  <dgm:cxnLst>
    <dgm:cxn modelId="{98279E39-7A00-4FA4-B51F-7063315E45E7}" type="presOf" srcId="{7A47D971-AA2F-4DD1-A1F9-0610D568238D}" destId="{05DEA9E9-A026-49D3-A09A-0641D05A0627}" srcOrd="0" destOrd="0" presId="urn:microsoft.com/office/officeart/2005/8/layout/hierarchy1"/>
    <dgm:cxn modelId="{C5E4B39C-C35B-42B9-817B-AC1C0C5F232B}" type="presOf" srcId="{ABC4A1B9-1DD8-421A-98D4-A7D58D3A7707}" destId="{054FB8B6-0D8B-40C4-BCC5-AAF55DEFC61E}" srcOrd="0" destOrd="0" presId="urn:microsoft.com/office/officeart/2005/8/layout/hierarchy1"/>
    <dgm:cxn modelId="{2E527EC8-ADB6-4D22-965E-5B3F6160F295}" type="presOf" srcId="{07AF671B-0E28-4417-9AB6-E3FE578C96A4}" destId="{1AF998DE-16D8-4951-AC82-7A3AA382BD3E}" srcOrd="0" destOrd="0" presId="urn:microsoft.com/office/officeart/2005/8/layout/hierarchy1"/>
    <dgm:cxn modelId="{A88E07D6-464D-4133-A024-23C6FE21820F}" srcId="{7A47D971-AA2F-4DD1-A1F9-0610D568238D}" destId="{ABC4A1B9-1DD8-421A-98D4-A7D58D3A7707}" srcOrd="0" destOrd="0" parTransId="{54B33016-CE58-48ED-97E5-789104F9D19C}" sibTransId="{0BADD9A8-EFFB-40EB-BC96-4EF8D8894D52}"/>
    <dgm:cxn modelId="{E9C52AED-5908-4FE3-B2AC-8418CB558C2E}" srcId="{7A47D971-AA2F-4DD1-A1F9-0610D568238D}" destId="{07AF671B-0E28-4417-9AB6-E3FE578C96A4}" srcOrd="1" destOrd="0" parTransId="{E4DC904D-18E6-45D5-BCA1-E985C96E53EF}" sibTransId="{C3471AE5-4CC9-4B53-A8A6-F449D87A5C0D}"/>
    <dgm:cxn modelId="{AF5E7842-54E2-410C-887C-CDC28EAECABD}" type="presParOf" srcId="{05DEA9E9-A026-49D3-A09A-0641D05A0627}" destId="{B6B1ABFB-2AD0-4829-A17B-EE59F431222B}" srcOrd="0" destOrd="0" presId="urn:microsoft.com/office/officeart/2005/8/layout/hierarchy1"/>
    <dgm:cxn modelId="{3F494FEB-577E-46F1-B535-81339A3A3CCE}" type="presParOf" srcId="{B6B1ABFB-2AD0-4829-A17B-EE59F431222B}" destId="{381774CF-0F2B-41CD-9383-3E469312B878}" srcOrd="0" destOrd="0" presId="urn:microsoft.com/office/officeart/2005/8/layout/hierarchy1"/>
    <dgm:cxn modelId="{E2DA136A-9B35-4A32-9E2D-755A9D62403C}" type="presParOf" srcId="{381774CF-0F2B-41CD-9383-3E469312B878}" destId="{A2598183-B625-4DE9-BAF2-517AA14C221B}" srcOrd="0" destOrd="0" presId="urn:microsoft.com/office/officeart/2005/8/layout/hierarchy1"/>
    <dgm:cxn modelId="{1F78F59B-30B8-48B8-A7CF-0A2255739847}" type="presParOf" srcId="{381774CF-0F2B-41CD-9383-3E469312B878}" destId="{054FB8B6-0D8B-40C4-BCC5-AAF55DEFC61E}" srcOrd="1" destOrd="0" presId="urn:microsoft.com/office/officeart/2005/8/layout/hierarchy1"/>
    <dgm:cxn modelId="{170B8DEB-9AD6-4A69-A087-21619947E0BA}" type="presParOf" srcId="{B6B1ABFB-2AD0-4829-A17B-EE59F431222B}" destId="{C8B2E2DB-B519-4868-BF93-DFAF715EAEF8}" srcOrd="1" destOrd="0" presId="urn:microsoft.com/office/officeart/2005/8/layout/hierarchy1"/>
    <dgm:cxn modelId="{441CD122-9A45-40C0-910B-EE43CC193190}" type="presParOf" srcId="{05DEA9E9-A026-49D3-A09A-0641D05A0627}" destId="{2897D2D1-EF22-4ACA-B7C0-31E2F349ABE3}" srcOrd="1" destOrd="0" presId="urn:microsoft.com/office/officeart/2005/8/layout/hierarchy1"/>
    <dgm:cxn modelId="{1BBD5F4B-3DB1-4F91-8A86-2005628A8F6F}" type="presParOf" srcId="{2897D2D1-EF22-4ACA-B7C0-31E2F349ABE3}" destId="{987DACE8-AF3A-49A9-80D3-6BDC04E202BE}" srcOrd="0" destOrd="0" presId="urn:microsoft.com/office/officeart/2005/8/layout/hierarchy1"/>
    <dgm:cxn modelId="{2ACDB993-9C71-4030-854B-CE59EAFCE051}" type="presParOf" srcId="{987DACE8-AF3A-49A9-80D3-6BDC04E202BE}" destId="{8668DF21-3CE8-4EDC-A9CF-4BD766C54CEC}" srcOrd="0" destOrd="0" presId="urn:microsoft.com/office/officeart/2005/8/layout/hierarchy1"/>
    <dgm:cxn modelId="{5FF9E2CF-383B-4EE5-90F1-A5DFB9A679F0}" type="presParOf" srcId="{987DACE8-AF3A-49A9-80D3-6BDC04E202BE}" destId="{1AF998DE-16D8-4951-AC82-7A3AA382BD3E}" srcOrd="1" destOrd="0" presId="urn:microsoft.com/office/officeart/2005/8/layout/hierarchy1"/>
    <dgm:cxn modelId="{940A81BE-CEEE-4780-A1F4-3FE7D1DA7E72}" type="presParOf" srcId="{2897D2D1-EF22-4ACA-B7C0-31E2F349ABE3}" destId="{242951EE-9865-4532-ADCD-8D71472EA0E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0666281-6F50-4D31-8A7D-5A6D1B79642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178DB8F-7EBA-49F3-BC78-CFF36C5BD46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pipeline follows a 4-step AI processing workflow on top of news ingestion:</a:t>
          </a:r>
        </a:p>
      </dgm:t>
    </dgm:pt>
    <dgm:pt modelId="{7ACCA63F-2699-410F-ACAF-01B16D8FFE6D}" type="parTrans" cxnId="{5A980D97-C9B4-4DF1-ABB2-BAB26AAE94EF}">
      <dgm:prSet/>
      <dgm:spPr/>
      <dgm:t>
        <a:bodyPr/>
        <a:lstStyle/>
        <a:p>
          <a:endParaRPr lang="en-US"/>
        </a:p>
      </dgm:t>
    </dgm:pt>
    <dgm:pt modelId="{6D0400D4-5AB1-4338-AF92-B840DFDD0FE3}" type="sibTrans" cxnId="{5A980D97-C9B4-4DF1-ABB2-BAB26AAE94EF}">
      <dgm:prSet/>
      <dgm:spPr/>
      <dgm:t>
        <a:bodyPr/>
        <a:lstStyle/>
        <a:p>
          <a:endParaRPr lang="en-US"/>
        </a:p>
      </dgm:t>
    </dgm:pt>
    <dgm:pt modelId="{E36A6628-48C8-4494-B162-7FD740F6008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Ingest</a:t>
          </a:r>
          <a:r>
            <a:rPr lang="en-US"/>
            <a:t> - Fetches articles from Yahoo Finance RSS feeds using feedparser and newspaper3k, stores them as JSON files and database records</a:t>
          </a:r>
        </a:p>
      </dgm:t>
    </dgm:pt>
    <dgm:pt modelId="{98796C61-B63D-4243-AEF0-D7E02F2F52E1}" type="parTrans" cxnId="{F60CA7EF-A31B-4027-BC9E-DEB73049832D}">
      <dgm:prSet/>
      <dgm:spPr/>
      <dgm:t>
        <a:bodyPr/>
        <a:lstStyle/>
        <a:p>
          <a:endParaRPr lang="en-US"/>
        </a:p>
      </dgm:t>
    </dgm:pt>
    <dgm:pt modelId="{76401549-7910-4C53-A133-58186F956255}" type="sibTrans" cxnId="{F60CA7EF-A31B-4027-BC9E-DEB73049832D}">
      <dgm:prSet/>
      <dgm:spPr/>
      <dgm:t>
        <a:bodyPr/>
        <a:lstStyle/>
        <a:p>
          <a:endParaRPr lang="en-US"/>
        </a:p>
      </dgm:t>
    </dgm:pt>
    <dgm:pt modelId="{32CE3E34-9F8B-4BD0-9570-ACFBB8E51F5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Market Events</a:t>
          </a:r>
          <a:r>
            <a:rPr lang="en-US"/>
            <a:t> - Claude Sonnet AI extracts discrete factual events from each article</a:t>
          </a:r>
        </a:p>
      </dgm:t>
    </dgm:pt>
    <dgm:pt modelId="{3D3C73D7-D91C-448F-909A-07822E802C1B}" type="parTrans" cxnId="{F9BD42B2-1891-472C-A24E-0A67E5660DA5}">
      <dgm:prSet/>
      <dgm:spPr/>
      <dgm:t>
        <a:bodyPr/>
        <a:lstStyle/>
        <a:p>
          <a:endParaRPr lang="en-US"/>
        </a:p>
      </dgm:t>
    </dgm:pt>
    <dgm:pt modelId="{88BDDCEC-9280-40FB-9FEF-BB0DC582383E}" type="sibTrans" cxnId="{F9BD42B2-1891-472C-A24E-0A67E5660DA5}">
      <dgm:prSet/>
      <dgm:spPr/>
      <dgm:t>
        <a:bodyPr/>
        <a:lstStyle/>
        <a:p>
          <a:endParaRPr lang="en-US"/>
        </a:p>
      </dgm:t>
    </dgm:pt>
    <dgm:pt modelId="{AB7B715B-1C49-42A9-AFF4-E0717D84F2D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Trends</a:t>
          </a:r>
          <a:r>
            <a:rPr lang="en-US"/>
            <a:t> - Identifies cross-article patterns and establishes trends across multiple events</a:t>
          </a:r>
        </a:p>
      </dgm:t>
    </dgm:pt>
    <dgm:pt modelId="{7258B01C-942C-4650-A4FF-4C403D02DB5E}" type="parTrans" cxnId="{5F0D5837-6C64-4F8E-A301-7F395AF2C280}">
      <dgm:prSet/>
      <dgm:spPr/>
      <dgm:t>
        <a:bodyPr/>
        <a:lstStyle/>
        <a:p>
          <a:endParaRPr lang="en-US"/>
        </a:p>
      </dgm:t>
    </dgm:pt>
    <dgm:pt modelId="{5DE342B1-635E-4C57-9919-ABAC3C64AD9B}" type="sibTrans" cxnId="{5F0D5837-6C64-4F8E-A301-7F395AF2C280}">
      <dgm:prSet/>
      <dgm:spPr/>
      <dgm:t>
        <a:bodyPr/>
        <a:lstStyle/>
        <a:p>
          <a:endParaRPr lang="en-US"/>
        </a:p>
      </dgm:t>
    </dgm:pt>
    <dgm:pt modelId="{254FBFD4-0F6E-46C2-8DE0-7AD804487B8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Themes &amp; Sector Sentiment</a:t>
          </a:r>
          <a:r>
            <a:rPr lang="en-US"/>
            <a:t> - Groups trends into high-level investment narratives and tags them with sector information and sentiment scores</a:t>
          </a:r>
        </a:p>
      </dgm:t>
    </dgm:pt>
    <dgm:pt modelId="{AEC534A1-7440-4011-BB17-DCBFD402AEC9}" type="parTrans" cxnId="{C8680C6C-1E94-4268-B7F2-48DE17323920}">
      <dgm:prSet/>
      <dgm:spPr/>
      <dgm:t>
        <a:bodyPr/>
        <a:lstStyle/>
        <a:p>
          <a:endParaRPr lang="en-US"/>
        </a:p>
      </dgm:t>
    </dgm:pt>
    <dgm:pt modelId="{5C09093C-44C2-46C5-8C4F-3205CA4AD3C5}" type="sibTrans" cxnId="{C8680C6C-1E94-4268-B7F2-48DE17323920}">
      <dgm:prSet/>
      <dgm:spPr/>
      <dgm:t>
        <a:bodyPr/>
        <a:lstStyle/>
        <a:p>
          <a:endParaRPr lang="en-US"/>
        </a:p>
      </dgm:t>
    </dgm:pt>
    <dgm:pt modelId="{1FCB2DF3-2467-481A-808F-EC9DA689E449}" type="pres">
      <dgm:prSet presAssocID="{90666281-6F50-4D31-8A7D-5A6D1B796422}" presName="root" presStyleCnt="0">
        <dgm:presLayoutVars>
          <dgm:dir/>
          <dgm:resizeHandles val="exact"/>
        </dgm:presLayoutVars>
      </dgm:prSet>
      <dgm:spPr/>
    </dgm:pt>
    <dgm:pt modelId="{BB74E4AB-E233-44E9-973D-3DEBE61D12B3}" type="pres">
      <dgm:prSet presAssocID="{A178DB8F-7EBA-49F3-BC78-CFF36C5BD46A}" presName="compNode" presStyleCnt="0"/>
      <dgm:spPr/>
    </dgm:pt>
    <dgm:pt modelId="{66314EAC-C0D5-4E5F-940B-626D5AF75843}" type="pres">
      <dgm:prSet presAssocID="{A178DB8F-7EBA-49F3-BC78-CFF36C5BD46A}" presName="bgRect" presStyleLbl="bgShp" presStyleIdx="0" presStyleCnt="5"/>
      <dgm:spPr/>
    </dgm:pt>
    <dgm:pt modelId="{AAA3A5D5-E4D2-426F-8719-8F782729786B}" type="pres">
      <dgm:prSet presAssocID="{A178DB8F-7EBA-49F3-BC78-CFF36C5BD46A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A3C3540D-4F77-4389-805A-B49B1B653911}" type="pres">
      <dgm:prSet presAssocID="{A178DB8F-7EBA-49F3-BC78-CFF36C5BD46A}" presName="spaceRect" presStyleCnt="0"/>
      <dgm:spPr/>
    </dgm:pt>
    <dgm:pt modelId="{4CEB9589-EFAC-4785-B9A7-FB273B97999E}" type="pres">
      <dgm:prSet presAssocID="{A178DB8F-7EBA-49F3-BC78-CFF36C5BD46A}" presName="parTx" presStyleLbl="revTx" presStyleIdx="0" presStyleCnt="5">
        <dgm:presLayoutVars>
          <dgm:chMax val="0"/>
          <dgm:chPref val="0"/>
        </dgm:presLayoutVars>
      </dgm:prSet>
      <dgm:spPr/>
    </dgm:pt>
    <dgm:pt modelId="{E312911C-96E3-4E68-BC92-187017DB05B9}" type="pres">
      <dgm:prSet presAssocID="{6D0400D4-5AB1-4338-AF92-B840DFDD0FE3}" presName="sibTrans" presStyleCnt="0"/>
      <dgm:spPr/>
    </dgm:pt>
    <dgm:pt modelId="{9D14BF89-0CF4-4022-81D3-59C630D13E23}" type="pres">
      <dgm:prSet presAssocID="{E36A6628-48C8-4494-B162-7FD740F60081}" presName="compNode" presStyleCnt="0"/>
      <dgm:spPr/>
    </dgm:pt>
    <dgm:pt modelId="{0764BC8F-E8BA-4EE4-913A-D3BF661AD6EB}" type="pres">
      <dgm:prSet presAssocID="{E36A6628-48C8-4494-B162-7FD740F60081}" presName="bgRect" presStyleLbl="bgShp" presStyleIdx="1" presStyleCnt="5"/>
      <dgm:spPr/>
    </dgm:pt>
    <dgm:pt modelId="{C2090DE0-931C-4C84-9A70-8B4D8A00FE8F}" type="pres">
      <dgm:prSet presAssocID="{E36A6628-48C8-4494-B162-7FD740F60081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C4F15A01-F17C-462C-B378-6D4B58495086}" type="pres">
      <dgm:prSet presAssocID="{E36A6628-48C8-4494-B162-7FD740F60081}" presName="spaceRect" presStyleCnt="0"/>
      <dgm:spPr/>
    </dgm:pt>
    <dgm:pt modelId="{2A93E558-EB7E-4FBB-A510-616313834736}" type="pres">
      <dgm:prSet presAssocID="{E36A6628-48C8-4494-B162-7FD740F60081}" presName="parTx" presStyleLbl="revTx" presStyleIdx="1" presStyleCnt="5">
        <dgm:presLayoutVars>
          <dgm:chMax val="0"/>
          <dgm:chPref val="0"/>
        </dgm:presLayoutVars>
      </dgm:prSet>
      <dgm:spPr/>
    </dgm:pt>
    <dgm:pt modelId="{3BC4CA23-8A5C-47A8-B752-A56AB4861939}" type="pres">
      <dgm:prSet presAssocID="{76401549-7910-4C53-A133-58186F956255}" presName="sibTrans" presStyleCnt="0"/>
      <dgm:spPr/>
    </dgm:pt>
    <dgm:pt modelId="{716878F4-B6FB-4253-80DA-EAA5655C214C}" type="pres">
      <dgm:prSet presAssocID="{32CE3E34-9F8B-4BD0-9570-ACFBB8E51F5F}" presName="compNode" presStyleCnt="0"/>
      <dgm:spPr/>
    </dgm:pt>
    <dgm:pt modelId="{8BA82073-EEE8-402F-B37C-BFA49ED4E7A5}" type="pres">
      <dgm:prSet presAssocID="{32CE3E34-9F8B-4BD0-9570-ACFBB8E51F5F}" presName="bgRect" presStyleLbl="bgShp" presStyleIdx="2" presStyleCnt="5"/>
      <dgm:spPr/>
    </dgm:pt>
    <dgm:pt modelId="{84B6199A-4C01-4BE1-8823-44D19646E627}" type="pres">
      <dgm:prSet presAssocID="{32CE3E34-9F8B-4BD0-9570-ACFBB8E51F5F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wspaper"/>
        </a:ext>
      </dgm:extLst>
    </dgm:pt>
    <dgm:pt modelId="{ED51E4E7-3512-461D-BD2C-C2C5782BEE85}" type="pres">
      <dgm:prSet presAssocID="{32CE3E34-9F8B-4BD0-9570-ACFBB8E51F5F}" presName="spaceRect" presStyleCnt="0"/>
      <dgm:spPr/>
    </dgm:pt>
    <dgm:pt modelId="{143895BF-97E0-472C-8E78-4FA7C1B33D77}" type="pres">
      <dgm:prSet presAssocID="{32CE3E34-9F8B-4BD0-9570-ACFBB8E51F5F}" presName="parTx" presStyleLbl="revTx" presStyleIdx="2" presStyleCnt="5">
        <dgm:presLayoutVars>
          <dgm:chMax val="0"/>
          <dgm:chPref val="0"/>
        </dgm:presLayoutVars>
      </dgm:prSet>
      <dgm:spPr/>
    </dgm:pt>
    <dgm:pt modelId="{7F5AB2FE-CD91-4ECD-A59E-1B1FF310049F}" type="pres">
      <dgm:prSet presAssocID="{88BDDCEC-9280-40FB-9FEF-BB0DC582383E}" presName="sibTrans" presStyleCnt="0"/>
      <dgm:spPr/>
    </dgm:pt>
    <dgm:pt modelId="{BF06238B-DF13-42DD-B705-A7A254057A13}" type="pres">
      <dgm:prSet presAssocID="{AB7B715B-1C49-42A9-AFF4-E0717D84F2D1}" presName="compNode" presStyleCnt="0"/>
      <dgm:spPr/>
    </dgm:pt>
    <dgm:pt modelId="{B6C8B7FC-87AF-4339-AA3D-0AB610986D31}" type="pres">
      <dgm:prSet presAssocID="{AB7B715B-1C49-42A9-AFF4-E0717D84F2D1}" presName="bgRect" presStyleLbl="bgShp" presStyleIdx="3" presStyleCnt="5"/>
      <dgm:spPr/>
    </dgm:pt>
    <dgm:pt modelId="{0BAA4170-D5A3-4603-99E6-7F58754F9C1E}" type="pres">
      <dgm:prSet presAssocID="{AB7B715B-1C49-42A9-AFF4-E0717D84F2D1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19C5C238-CE7B-4CFB-82C2-7896D78F327F}" type="pres">
      <dgm:prSet presAssocID="{AB7B715B-1C49-42A9-AFF4-E0717D84F2D1}" presName="spaceRect" presStyleCnt="0"/>
      <dgm:spPr/>
    </dgm:pt>
    <dgm:pt modelId="{FC4B1FB8-8D39-4016-8909-C43543B1C8DC}" type="pres">
      <dgm:prSet presAssocID="{AB7B715B-1C49-42A9-AFF4-E0717D84F2D1}" presName="parTx" presStyleLbl="revTx" presStyleIdx="3" presStyleCnt="5">
        <dgm:presLayoutVars>
          <dgm:chMax val="0"/>
          <dgm:chPref val="0"/>
        </dgm:presLayoutVars>
      </dgm:prSet>
      <dgm:spPr/>
    </dgm:pt>
    <dgm:pt modelId="{FFFF5E05-96C2-4B7B-A0A0-9EE142429C07}" type="pres">
      <dgm:prSet presAssocID="{5DE342B1-635E-4C57-9919-ABAC3C64AD9B}" presName="sibTrans" presStyleCnt="0"/>
      <dgm:spPr/>
    </dgm:pt>
    <dgm:pt modelId="{0185C715-06B9-49C7-B263-8BB7A8794D74}" type="pres">
      <dgm:prSet presAssocID="{254FBFD4-0F6E-46C2-8DE0-7AD804487B8D}" presName="compNode" presStyleCnt="0"/>
      <dgm:spPr/>
    </dgm:pt>
    <dgm:pt modelId="{4F3F4C00-2F59-41FE-9026-0BA548B17C6F}" type="pres">
      <dgm:prSet presAssocID="{254FBFD4-0F6E-46C2-8DE0-7AD804487B8D}" presName="bgRect" presStyleLbl="bgShp" presStyleIdx="4" presStyleCnt="5"/>
      <dgm:spPr/>
    </dgm:pt>
    <dgm:pt modelId="{934F771B-D804-473C-AAF5-B1CCED8AE649}" type="pres">
      <dgm:prSet presAssocID="{254FBFD4-0F6E-46C2-8DE0-7AD804487B8D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Japanese Dolls"/>
        </a:ext>
      </dgm:extLst>
    </dgm:pt>
    <dgm:pt modelId="{43058CFD-964E-4EF3-8D7F-573B66B3EC31}" type="pres">
      <dgm:prSet presAssocID="{254FBFD4-0F6E-46C2-8DE0-7AD804487B8D}" presName="spaceRect" presStyleCnt="0"/>
      <dgm:spPr/>
    </dgm:pt>
    <dgm:pt modelId="{141BED13-46A3-416F-8464-95A6AE6741C4}" type="pres">
      <dgm:prSet presAssocID="{254FBFD4-0F6E-46C2-8DE0-7AD804487B8D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EA50C718-B864-4BB6-A00F-75E3F890F672}" type="presOf" srcId="{E36A6628-48C8-4494-B162-7FD740F60081}" destId="{2A93E558-EB7E-4FBB-A510-616313834736}" srcOrd="0" destOrd="0" presId="urn:microsoft.com/office/officeart/2018/2/layout/IconVerticalSolidList"/>
    <dgm:cxn modelId="{60FFD826-8CA7-4FEF-AAA6-AA5E399B7E4D}" type="presOf" srcId="{A178DB8F-7EBA-49F3-BC78-CFF36C5BD46A}" destId="{4CEB9589-EFAC-4785-B9A7-FB273B97999E}" srcOrd="0" destOrd="0" presId="urn:microsoft.com/office/officeart/2018/2/layout/IconVerticalSolidList"/>
    <dgm:cxn modelId="{5F0D5837-6C64-4F8E-A301-7F395AF2C280}" srcId="{90666281-6F50-4D31-8A7D-5A6D1B796422}" destId="{AB7B715B-1C49-42A9-AFF4-E0717D84F2D1}" srcOrd="3" destOrd="0" parTransId="{7258B01C-942C-4650-A4FF-4C403D02DB5E}" sibTransId="{5DE342B1-635E-4C57-9919-ABAC3C64AD9B}"/>
    <dgm:cxn modelId="{C8680C6C-1E94-4268-B7F2-48DE17323920}" srcId="{90666281-6F50-4D31-8A7D-5A6D1B796422}" destId="{254FBFD4-0F6E-46C2-8DE0-7AD804487B8D}" srcOrd="4" destOrd="0" parTransId="{AEC534A1-7440-4011-BB17-DCBFD402AEC9}" sibTransId="{5C09093C-44C2-46C5-8C4F-3205CA4AD3C5}"/>
    <dgm:cxn modelId="{5A980D97-C9B4-4DF1-ABB2-BAB26AAE94EF}" srcId="{90666281-6F50-4D31-8A7D-5A6D1B796422}" destId="{A178DB8F-7EBA-49F3-BC78-CFF36C5BD46A}" srcOrd="0" destOrd="0" parTransId="{7ACCA63F-2699-410F-ACAF-01B16D8FFE6D}" sibTransId="{6D0400D4-5AB1-4338-AF92-B840DFDD0FE3}"/>
    <dgm:cxn modelId="{F9BD42B2-1891-472C-A24E-0A67E5660DA5}" srcId="{90666281-6F50-4D31-8A7D-5A6D1B796422}" destId="{32CE3E34-9F8B-4BD0-9570-ACFBB8E51F5F}" srcOrd="2" destOrd="0" parTransId="{3D3C73D7-D91C-448F-909A-07822E802C1B}" sibTransId="{88BDDCEC-9280-40FB-9FEF-BB0DC582383E}"/>
    <dgm:cxn modelId="{C1A472D0-3FF5-402D-A6B1-740E53BD6DF5}" type="presOf" srcId="{32CE3E34-9F8B-4BD0-9570-ACFBB8E51F5F}" destId="{143895BF-97E0-472C-8E78-4FA7C1B33D77}" srcOrd="0" destOrd="0" presId="urn:microsoft.com/office/officeart/2018/2/layout/IconVerticalSolidList"/>
    <dgm:cxn modelId="{2018B7D4-CFC5-403D-A2FA-DEC5AE927ECF}" type="presOf" srcId="{254FBFD4-0F6E-46C2-8DE0-7AD804487B8D}" destId="{141BED13-46A3-416F-8464-95A6AE6741C4}" srcOrd="0" destOrd="0" presId="urn:microsoft.com/office/officeart/2018/2/layout/IconVerticalSolidList"/>
    <dgm:cxn modelId="{4B4667D9-753D-4629-AF4A-12DCD18E12A2}" type="presOf" srcId="{AB7B715B-1C49-42A9-AFF4-E0717D84F2D1}" destId="{FC4B1FB8-8D39-4016-8909-C43543B1C8DC}" srcOrd="0" destOrd="0" presId="urn:microsoft.com/office/officeart/2018/2/layout/IconVerticalSolidList"/>
    <dgm:cxn modelId="{F60CA7EF-A31B-4027-BC9E-DEB73049832D}" srcId="{90666281-6F50-4D31-8A7D-5A6D1B796422}" destId="{E36A6628-48C8-4494-B162-7FD740F60081}" srcOrd="1" destOrd="0" parTransId="{98796C61-B63D-4243-AEF0-D7E02F2F52E1}" sibTransId="{76401549-7910-4C53-A133-58186F956255}"/>
    <dgm:cxn modelId="{B9F4D6FB-3F9E-49B3-BF48-16EBE86E4C63}" type="presOf" srcId="{90666281-6F50-4D31-8A7D-5A6D1B796422}" destId="{1FCB2DF3-2467-481A-808F-EC9DA689E449}" srcOrd="0" destOrd="0" presId="urn:microsoft.com/office/officeart/2018/2/layout/IconVerticalSolidList"/>
    <dgm:cxn modelId="{E3992A69-010C-4C23-8D75-2C1B4CB6C10A}" type="presParOf" srcId="{1FCB2DF3-2467-481A-808F-EC9DA689E449}" destId="{BB74E4AB-E233-44E9-973D-3DEBE61D12B3}" srcOrd="0" destOrd="0" presId="urn:microsoft.com/office/officeart/2018/2/layout/IconVerticalSolidList"/>
    <dgm:cxn modelId="{AD148DB7-7FDD-4411-849E-A9E5EA05522E}" type="presParOf" srcId="{BB74E4AB-E233-44E9-973D-3DEBE61D12B3}" destId="{66314EAC-C0D5-4E5F-940B-626D5AF75843}" srcOrd="0" destOrd="0" presId="urn:microsoft.com/office/officeart/2018/2/layout/IconVerticalSolidList"/>
    <dgm:cxn modelId="{EFE66656-D4B2-48C9-A4D6-0D8E9C68C9D5}" type="presParOf" srcId="{BB74E4AB-E233-44E9-973D-3DEBE61D12B3}" destId="{AAA3A5D5-E4D2-426F-8719-8F782729786B}" srcOrd="1" destOrd="0" presId="urn:microsoft.com/office/officeart/2018/2/layout/IconVerticalSolidList"/>
    <dgm:cxn modelId="{41156258-0573-48A4-BED2-5B0E915D2DC3}" type="presParOf" srcId="{BB74E4AB-E233-44E9-973D-3DEBE61D12B3}" destId="{A3C3540D-4F77-4389-805A-B49B1B653911}" srcOrd="2" destOrd="0" presId="urn:microsoft.com/office/officeart/2018/2/layout/IconVerticalSolidList"/>
    <dgm:cxn modelId="{916D0A91-3944-44AA-A7F8-BC136D243AB8}" type="presParOf" srcId="{BB74E4AB-E233-44E9-973D-3DEBE61D12B3}" destId="{4CEB9589-EFAC-4785-B9A7-FB273B97999E}" srcOrd="3" destOrd="0" presId="urn:microsoft.com/office/officeart/2018/2/layout/IconVerticalSolidList"/>
    <dgm:cxn modelId="{C7133AC8-3DD3-4CBC-AC40-E24489C25A90}" type="presParOf" srcId="{1FCB2DF3-2467-481A-808F-EC9DA689E449}" destId="{E312911C-96E3-4E68-BC92-187017DB05B9}" srcOrd="1" destOrd="0" presId="urn:microsoft.com/office/officeart/2018/2/layout/IconVerticalSolidList"/>
    <dgm:cxn modelId="{06D18735-ED21-4000-9203-7EDD846BBC01}" type="presParOf" srcId="{1FCB2DF3-2467-481A-808F-EC9DA689E449}" destId="{9D14BF89-0CF4-4022-81D3-59C630D13E23}" srcOrd="2" destOrd="0" presId="urn:microsoft.com/office/officeart/2018/2/layout/IconVerticalSolidList"/>
    <dgm:cxn modelId="{1586E479-4B5F-4B13-A61F-2152960CB3A9}" type="presParOf" srcId="{9D14BF89-0CF4-4022-81D3-59C630D13E23}" destId="{0764BC8F-E8BA-4EE4-913A-D3BF661AD6EB}" srcOrd="0" destOrd="0" presId="urn:microsoft.com/office/officeart/2018/2/layout/IconVerticalSolidList"/>
    <dgm:cxn modelId="{25551AE5-7F95-494E-97E6-88C3A748D055}" type="presParOf" srcId="{9D14BF89-0CF4-4022-81D3-59C630D13E23}" destId="{C2090DE0-931C-4C84-9A70-8B4D8A00FE8F}" srcOrd="1" destOrd="0" presId="urn:microsoft.com/office/officeart/2018/2/layout/IconVerticalSolidList"/>
    <dgm:cxn modelId="{84C1E7B5-3F16-4192-A811-E5FE81B063EC}" type="presParOf" srcId="{9D14BF89-0CF4-4022-81D3-59C630D13E23}" destId="{C4F15A01-F17C-462C-B378-6D4B58495086}" srcOrd="2" destOrd="0" presId="urn:microsoft.com/office/officeart/2018/2/layout/IconVerticalSolidList"/>
    <dgm:cxn modelId="{6F94B8AE-6A50-4FCE-A3CA-C85759E2270A}" type="presParOf" srcId="{9D14BF89-0CF4-4022-81D3-59C630D13E23}" destId="{2A93E558-EB7E-4FBB-A510-616313834736}" srcOrd="3" destOrd="0" presId="urn:microsoft.com/office/officeart/2018/2/layout/IconVerticalSolidList"/>
    <dgm:cxn modelId="{60FE2752-5159-4F36-BD2B-C0575FB862CD}" type="presParOf" srcId="{1FCB2DF3-2467-481A-808F-EC9DA689E449}" destId="{3BC4CA23-8A5C-47A8-B752-A56AB4861939}" srcOrd="3" destOrd="0" presId="urn:microsoft.com/office/officeart/2018/2/layout/IconVerticalSolidList"/>
    <dgm:cxn modelId="{8D627DD7-F31B-452E-947D-75F11CA6B218}" type="presParOf" srcId="{1FCB2DF3-2467-481A-808F-EC9DA689E449}" destId="{716878F4-B6FB-4253-80DA-EAA5655C214C}" srcOrd="4" destOrd="0" presId="urn:microsoft.com/office/officeart/2018/2/layout/IconVerticalSolidList"/>
    <dgm:cxn modelId="{C86777CD-1F10-4EE8-9DB1-F3D42A262D7C}" type="presParOf" srcId="{716878F4-B6FB-4253-80DA-EAA5655C214C}" destId="{8BA82073-EEE8-402F-B37C-BFA49ED4E7A5}" srcOrd="0" destOrd="0" presId="urn:microsoft.com/office/officeart/2018/2/layout/IconVerticalSolidList"/>
    <dgm:cxn modelId="{EC1E76E8-A24C-4028-8A11-7E62525816AB}" type="presParOf" srcId="{716878F4-B6FB-4253-80DA-EAA5655C214C}" destId="{84B6199A-4C01-4BE1-8823-44D19646E627}" srcOrd="1" destOrd="0" presId="urn:microsoft.com/office/officeart/2018/2/layout/IconVerticalSolidList"/>
    <dgm:cxn modelId="{97FCA05E-4C17-4204-93A4-C39232BDDBB4}" type="presParOf" srcId="{716878F4-B6FB-4253-80DA-EAA5655C214C}" destId="{ED51E4E7-3512-461D-BD2C-C2C5782BEE85}" srcOrd="2" destOrd="0" presId="urn:microsoft.com/office/officeart/2018/2/layout/IconVerticalSolidList"/>
    <dgm:cxn modelId="{0EFE954F-0EA7-4793-885A-3CFBA61203EF}" type="presParOf" srcId="{716878F4-B6FB-4253-80DA-EAA5655C214C}" destId="{143895BF-97E0-472C-8E78-4FA7C1B33D77}" srcOrd="3" destOrd="0" presId="urn:microsoft.com/office/officeart/2018/2/layout/IconVerticalSolidList"/>
    <dgm:cxn modelId="{2A29C79E-1F5E-44B1-86EA-AFAFED122305}" type="presParOf" srcId="{1FCB2DF3-2467-481A-808F-EC9DA689E449}" destId="{7F5AB2FE-CD91-4ECD-A59E-1B1FF310049F}" srcOrd="5" destOrd="0" presId="urn:microsoft.com/office/officeart/2018/2/layout/IconVerticalSolidList"/>
    <dgm:cxn modelId="{FFA5A2F1-40A1-444A-8A8C-CBC5F7E9DA9B}" type="presParOf" srcId="{1FCB2DF3-2467-481A-808F-EC9DA689E449}" destId="{BF06238B-DF13-42DD-B705-A7A254057A13}" srcOrd="6" destOrd="0" presId="urn:microsoft.com/office/officeart/2018/2/layout/IconVerticalSolidList"/>
    <dgm:cxn modelId="{81E78AEA-1A6A-4FC7-9117-584F6BE9C593}" type="presParOf" srcId="{BF06238B-DF13-42DD-B705-A7A254057A13}" destId="{B6C8B7FC-87AF-4339-AA3D-0AB610986D31}" srcOrd="0" destOrd="0" presId="urn:microsoft.com/office/officeart/2018/2/layout/IconVerticalSolidList"/>
    <dgm:cxn modelId="{207D6C14-0385-4067-95EF-C8F7903EF8C2}" type="presParOf" srcId="{BF06238B-DF13-42DD-B705-A7A254057A13}" destId="{0BAA4170-D5A3-4603-99E6-7F58754F9C1E}" srcOrd="1" destOrd="0" presId="urn:microsoft.com/office/officeart/2018/2/layout/IconVerticalSolidList"/>
    <dgm:cxn modelId="{53F42D9A-71CA-4B11-B4E1-CCD16F7967D5}" type="presParOf" srcId="{BF06238B-DF13-42DD-B705-A7A254057A13}" destId="{19C5C238-CE7B-4CFB-82C2-7896D78F327F}" srcOrd="2" destOrd="0" presId="urn:microsoft.com/office/officeart/2018/2/layout/IconVerticalSolidList"/>
    <dgm:cxn modelId="{8B8C66DF-0FBF-4F0E-B434-2B3212539BFB}" type="presParOf" srcId="{BF06238B-DF13-42DD-B705-A7A254057A13}" destId="{FC4B1FB8-8D39-4016-8909-C43543B1C8DC}" srcOrd="3" destOrd="0" presId="urn:microsoft.com/office/officeart/2018/2/layout/IconVerticalSolidList"/>
    <dgm:cxn modelId="{826FEE79-526B-4BE9-9E93-8D8FA28B58A3}" type="presParOf" srcId="{1FCB2DF3-2467-481A-808F-EC9DA689E449}" destId="{FFFF5E05-96C2-4B7B-A0A0-9EE142429C07}" srcOrd="7" destOrd="0" presId="urn:microsoft.com/office/officeart/2018/2/layout/IconVerticalSolidList"/>
    <dgm:cxn modelId="{60871254-55D9-4876-AB2F-52FA15D3FE1E}" type="presParOf" srcId="{1FCB2DF3-2467-481A-808F-EC9DA689E449}" destId="{0185C715-06B9-49C7-B263-8BB7A8794D74}" srcOrd="8" destOrd="0" presId="urn:microsoft.com/office/officeart/2018/2/layout/IconVerticalSolidList"/>
    <dgm:cxn modelId="{3C7136BA-B3FF-46D7-A1E3-11B31EEE3967}" type="presParOf" srcId="{0185C715-06B9-49C7-B263-8BB7A8794D74}" destId="{4F3F4C00-2F59-41FE-9026-0BA548B17C6F}" srcOrd="0" destOrd="0" presId="urn:microsoft.com/office/officeart/2018/2/layout/IconVerticalSolidList"/>
    <dgm:cxn modelId="{87471ADC-F1D3-4E20-9928-EA13D2DA8F21}" type="presParOf" srcId="{0185C715-06B9-49C7-B263-8BB7A8794D74}" destId="{934F771B-D804-473C-AAF5-B1CCED8AE649}" srcOrd="1" destOrd="0" presId="urn:microsoft.com/office/officeart/2018/2/layout/IconVerticalSolidList"/>
    <dgm:cxn modelId="{2A18356B-27CC-46B8-AC58-1CD655011043}" type="presParOf" srcId="{0185C715-06B9-49C7-B263-8BB7A8794D74}" destId="{43058CFD-964E-4EF3-8D7F-573B66B3EC31}" srcOrd="2" destOrd="0" presId="urn:microsoft.com/office/officeart/2018/2/layout/IconVerticalSolidList"/>
    <dgm:cxn modelId="{62BCDFB5-E32F-46DB-BFC4-7A407A16833C}" type="presParOf" srcId="{0185C715-06B9-49C7-B263-8BB7A8794D74}" destId="{141BED13-46A3-416F-8464-95A6AE6741C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598183-B625-4DE9-BAF2-517AA14C221B}">
      <dsp:nvSpPr>
        <dsp:cNvPr id="0" name=""/>
        <dsp:cNvSpPr/>
      </dsp:nvSpPr>
      <dsp:spPr>
        <a:xfrm>
          <a:off x="1333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4FB8B6-0D8B-40C4-BCC5-AAF55DEFC61E}">
      <dsp:nvSpPr>
        <dsp:cNvPr id="0" name=""/>
        <dsp:cNvSpPr/>
      </dsp:nvSpPr>
      <dsp:spPr>
        <a:xfrm>
          <a:off x="521579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This is a sophisticated </a:t>
          </a:r>
          <a:r>
            <a:rPr lang="en-US" sz="2600" b="1" kern="1200" dirty="0"/>
            <a:t>end-to-end data pipeline</a:t>
          </a:r>
          <a:r>
            <a:rPr lang="en-US" sz="2600" kern="1200" dirty="0"/>
            <a:t> that transforms financial news into actionable investment intelligence.</a:t>
          </a:r>
        </a:p>
      </dsp:txBody>
      <dsp:txXfrm>
        <a:off x="608661" y="692298"/>
        <a:ext cx="4508047" cy="2799040"/>
      </dsp:txXfrm>
    </dsp:sp>
    <dsp:sp modelId="{8668DF21-3CE8-4EDC-A9CF-4BD766C54CEC}">
      <dsp:nvSpPr>
        <dsp:cNvPr id="0" name=""/>
        <dsp:cNvSpPr/>
      </dsp:nvSpPr>
      <dsp:spPr>
        <a:xfrm>
          <a:off x="5724037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F998DE-16D8-4951-AC82-7A3AA382BD3E}">
      <dsp:nvSpPr>
        <dsp:cNvPr id="0" name=""/>
        <dsp:cNvSpPr/>
      </dsp:nvSpPr>
      <dsp:spPr>
        <a:xfrm>
          <a:off x="6244283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The pipeline ingests financial news from Yahoo Finance RSS feeds and uses AI to extract meaningful market intelligence, organizing it into investment themes with sector sentiment analysis.</a:t>
          </a:r>
        </a:p>
      </dsp:txBody>
      <dsp:txXfrm>
        <a:off x="6331365" y="692298"/>
        <a:ext cx="4508047" cy="27990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314EAC-C0D5-4E5F-940B-626D5AF75843}">
      <dsp:nvSpPr>
        <dsp:cNvPr id="0" name=""/>
        <dsp:cNvSpPr/>
      </dsp:nvSpPr>
      <dsp:spPr>
        <a:xfrm>
          <a:off x="0" y="3399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A3A5D5-E4D2-426F-8719-8F782729786B}">
      <dsp:nvSpPr>
        <dsp:cNvPr id="0" name=""/>
        <dsp:cNvSpPr/>
      </dsp:nvSpPr>
      <dsp:spPr>
        <a:xfrm>
          <a:off x="219037" y="166319"/>
          <a:ext cx="398249" cy="3982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EB9589-EFAC-4785-B9A7-FB273B97999E}">
      <dsp:nvSpPr>
        <dsp:cNvPr id="0" name=""/>
        <dsp:cNvSpPr/>
      </dsp:nvSpPr>
      <dsp:spPr>
        <a:xfrm>
          <a:off x="836323" y="3399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The pipeline follows a 4-step AI processing workflow on top of news ingestion:</a:t>
          </a:r>
        </a:p>
      </dsp:txBody>
      <dsp:txXfrm>
        <a:off x="836323" y="3399"/>
        <a:ext cx="9679276" cy="724089"/>
      </dsp:txXfrm>
    </dsp:sp>
    <dsp:sp modelId="{0764BC8F-E8BA-4EE4-913A-D3BF661AD6EB}">
      <dsp:nvSpPr>
        <dsp:cNvPr id="0" name=""/>
        <dsp:cNvSpPr/>
      </dsp:nvSpPr>
      <dsp:spPr>
        <a:xfrm>
          <a:off x="0" y="908511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090DE0-931C-4C84-9A70-8B4D8A00FE8F}">
      <dsp:nvSpPr>
        <dsp:cNvPr id="0" name=""/>
        <dsp:cNvSpPr/>
      </dsp:nvSpPr>
      <dsp:spPr>
        <a:xfrm>
          <a:off x="219037" y="1071431"/>
          <a:ext cx="398249" cy="3982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93E558-EB7E-4FBB-A510-616313834736}">
      <dsp:nvSpPr>
        <dsp:cNvPr id="0" name=""/>
        <dsp:cNvSpPr/>
      </dsp:nvSpPr>
      <dsp:spPr>
        <a:xfrm>
          <a:off x="836323" y="908511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Ingest</a:t>
          </a:r>
          <a:r>
            <a:rPr lang="en-US" sz="1800" kern="1200"/>
            <a:t> - Fetches articles from Yahoo Finance RSS feeds using feedparser and newspaper3k, stores them as JSON files and database records</a:t>
          </a:r>
        </a:p>
      </dsp:txBody>
      <dsp:txXfrm>
        <a:off x="836323" y="908511"/>
        <a:ext cx="9679276" cy="724089"/>
      </dsp:txXfrm>
    </dsp:sp>
    <dsp:sp modelId="{8BA82073-EEE8-402F-B37C-BFA49ED4E7A5}">
      <dsp:nvSpPr>
        <dsp:cNvPr id="0" name=""/>
        <dsp:cNvSpPr/>
      </dsp:nvSpPr>
      <dsp:spPr>
        <a:xfrm>
          <a:off x="0" y="1813624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B6199A-4C01-4BE1-8823-44D19646E627}">
      <dsp:nvSpPr>
        <dsp:cNvPr id="0" name=""/>
        <dsp:cNvSpPr/>
      </dsp:nvSpPr>
      <dsp:spPr>
        <a:xfrm>
          <a:off x="219037" y="1976544"/>
          <a:ext cx="398249" cy="3982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3895BF-97E0-472C-8E78-4FA7C1B33D77}">
      <dsp:nvSpPr>
        <dsp:cNvPr id="0" name=""/>
        <dsp:cNvSpPr/>
      </dsp:nvSpPr>
      <dsp:spPr>
        <a:xfrm>
          <a:off x="836323" y="1813624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Market Events</a:t>
          </a:r>
          <a:r>
            <a:rPr lang="en-US" sz="1800" kern="1200"/>
            <a:t> - Claude Sonnet AI extracts discrete factual events from each article</a:t>
          </a:r>
        </a:p>
      </dsp:txBody>
      <dsp:txXfrm>
        <a:off x="836323" y="1813624"/>
        <a:ext cx="9679276" cy="724089"/>
      </dsp:txXfrm>
    </dsp:sp>
    <dsp:sp modelId="{B6C8B7FC-87AF-4339-AA3D-0AB610986D31}">
      <dsp:nvSpPr>
        <dsp:cNvPr id="0" name=""/>
        <dsp:cNvSpPr/>
      </dsp:nvSpPr>
      <dsp:spPr>
        <a:xfrm>
          <a:off x="0" y="2718736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AA4170-D5A3-4603-99E6-7F58754F9C1E}">
      <dsp:nvSpPr>
        <dsp:cNvPr id="0" name=""/>
        <dsp:cNvSpPr/>
      </dsp:nvSpPr>
      <dsp:spPr>
        <a:xfrm>
          <a:off x="219037" y="2881656"/>
          <a:ext cx="398249" cy="3982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4B1FB8-8D39-4016-8909-C43543B1C8DC}">
      <dsp:nvSpPr>
        <dsp:cNvPr id="0" name=""/>
        <dsp:cNvSpPr/>
      </dsp:nvSpPr>
      <dsp:spPr>
        <a:xfrm>
          <a:off x="836323" y="2718736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Trends</a:t>
          </a:r>
          <a:r>
            <a:rPr lang="en-US" sz="1800" kern="1200"/>
            <a:t> - Identifies cross-article patterns and establishes trends across multiple events</a:t>
          </a:r>
        </a:p>
      </dsp:txBody>
      <dsp:txXfrm>
        <a:off x="836323" y="2718736"/>
        <a:ext cx="9679276" cy="724089"/>
      </dsp:txXfrm>
    </dsp:sp>
    <dsp:sp modelId="{4F3F4C00-2F59-41FE-9026-0BA548B17C6F}">
      <dsp:nvSpPr>
        <dsp:cNvPr id="0" name=""/>
        <dsp:cNvSpPr/>
      </dsp:nvSpPr>
      <dsp:spPr>
        <a:xfrm>
          <a:off x="0" y="3623848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4F771B-D804-473C-AAF5-B1CCED8AE649}">
      <dsp:nvSpPr>
        <dsp:cNvPr id="0" name=""/>
        <dsp:cNvSpPr/>
      </dsp:nvSpPr>
      <dsp:spPr>
        <a:xfrm>
          <a:off x="219037" y="3786768"/>
          <a:ext cx="398249" cy="3982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1BED13-46A3-416F-8464-95A6AE6741C4}">
      <dsp:nvSpPr>
        <dsp:cNvPr id="0" name=""/>
        <dsp:cNvSpPr/>
      </dsp:nvSpPr>
      <dsp:spPr>
        <a:xfrm>
          <a:off x="836323" y="3623848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Themes &amp; Sector Sentiment</a:t>
          </a:r>
          <a:r>
            <a:rPr lang="en-US" sz="1800" kern="1200"/>
            <a:t> - Groups trends into high-level investment narratives and tags them with sector information and sentiment scores</a:t>
          </a:r>
        </a:p>
      </dsp:txBody>
      <dsp:txXfrm>
        <a:off x="836323" y="3623848"/>
        <a:ext cx="9679276" cy="7240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88E09-FF5E-1105-4F48-79AAFAC275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BD1049-2597-F499-53AF-A21379A721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87124-3960-BB5B-A64B-FA810DB7D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4AAC7-8A69-4DCD-9EE2-9DC6DF820769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F442FE-B617-3639-1179-24B54A9B8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135BC-9E88-12CA-855A-84750284F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F233-A214-4482-A85F-B7E70359F1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6565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788C5-442E-3C0F-20CA-671609AC6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2D53B-67BD-552C-FB55-7FE601C4C6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67FC69-EEA8-65B5-DC38-9D376C7C5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4AAC7-8A69-4DCD-9EE2-9DC6DF820769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87A8F6-3E44-71A5-CE98-508A90326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8A4DD2-7273-459D-C1A1-3982510AE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F233-A214-4482-A85F-B7E70359F1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5998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36A9D-ACC2-9ABE-A3FE-2C56D8D2B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062BEB-9A0D-3132-EF1E-C0AE46EEB3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DA4AE5-AF4A-EADF-1EC6-EA5A58DC6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4AAC7-8A69-4DCD-9EE2-9DC6DF820769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2C906-0222-10A9-221A-3C7D21EC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18628-901A-BB77-6BF2-82BBE657C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F233-A214-4482-A85F-B7E70359F1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4000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9CF7D-9EB6-3741-98A2-7533C541F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15599-51E6-2507-1DE2-4C37ED2D6F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19BED3-C40E-1F54-DDF3-9CCE1C959D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A3CC76-2B0E-C039-2380-BAC3E281B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4AAC7-8A69-4DCD-9EE2-9DC6DF820769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99B64E-B1CF-15C8-E151-E9B96F58D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929C12-370D-42BC-8ABA-E6B980323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F233-A214-4482-A85F-B7E70359F1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1636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2DAD6-BB1F-70A2-75F0-F62F6AFBB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690E87-7006-F92F-E5E4-0D36626E67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0E640D-CB59-BB5E-1B62-55B51BFA51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F38F68-D16B-65A3-CD71-C3A050C667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D555D7-BFD9-6D87-3607-B9C498ACAD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00CE92-3A3E-D2F8-F1F6-18BA0DBAD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4AAC7-8A69-4DCD-9EE2-9DC6DF820769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23DA3E-DFB7-68E6-1F7C-384C4E38B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208622-E27B-0F9C-750D-3CEEF28C8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F233-A214-4482-A85F-B7E70359F1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520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2346A-2989-3CA5-3E95-C96CC26B8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D0CC06-B25E-ED52-AA0E-69B58F25D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4AAC7-8A69-4DCD-9EE2-9DC6DF820769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7D1546-9745-7325-3DED-E1D0C0F1B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39D383-1851-C81B-5637-4017CF850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F233-A214-4482-A85F-B7E70359F1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1447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C21CEB-6BBC-A359-A2FD-C8B765E88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4AAC7-8A69-4DCD-9EE2-9DC6DF820769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8AED64-159D-A98A-FA5A-5C274D22B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E8784E-4D5C-F76E-2BE7-C6CB6BC5F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F233-A214-4482-A85F-B7E70359F1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3360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C8829-339D-DBA7-4DDF-5AE6BDBE4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E0956-299F-479D-0D5E-5711B7D52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42E601-350B-0858-19D3-5B76D9EFB5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1D9631-7EE0-0697-D175-D4A69F062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4AAC7-8A69-4DCD-9EE2-9DC6DF820769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439F56-2A0E-858D-9660-72162DE62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C5B124-E435-939F-C59B-DF5725BC8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F233-A214-4482-A85F-B7E70359F1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0273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A3ED7-FC9A-E55D-A069-4EE1A392E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11AACB-BFB7-8207-8917-7A06591C8D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E2E445-E58A-DAF4-BC5D-8030D65CDF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3F57C1-F8B5-E674-6236-E98916C51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4AAC7-8A69-4DCD-9EE2-9DC6DF820769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17730D-A53C-249F-9CF0-E46034FF2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5EB030-FEED-F40D-3A8E-AF34CBA3A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F233-A214-4482-A85F-B7E70359F1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7726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E27D1-42C5-7049-E1F1-8AAEF574B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1B5B62-7D3F-77C8-F38F-2CE33B5878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A9C029-40ED-E06E-4C19-A95869DBE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4AAC7-8A69-4DCD-9EE2-9DC6DF820769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E1B660-4BFD-7A20-9693-C69ECE3D3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9DC891-072A-F7B8-E5A1-9CA35D7C1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F233-A214-4482-A85F-B7E70359F1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4613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4A5689-0811-BC61-0059-E69C447EE5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7CFAA8-FA12-1567-E623-8A4CC47877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3CC170-329A-BF4D-6558-AEFDEE813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4AAC7-8A69-4DCD-9EE2-9DC6DF820769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01B70-212C-C62F-67E8-2B45520AC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A125DF-BAC5-71F9-C82F-93F52888C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F233-A214-4482-A85F-B7E70359F1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7880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E39280-1455-2E0C-B9B4-7F38341B3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803BEC-A7C8-4063-57DA-B6FCAB57D2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703D89-96D5-F3C7-61FA-27B5081A1B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C4AAC7-8A69-4DCD-9EE2-9DC6DF820769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BD9F59-AE4F-7468-0A86-75AB450D61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00F83-D6BE-4A69-DBAC-C2AE683904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4EF233-A214-4482-A85F-B7E70359F1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4356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miniature bull and bear percentages on a paper printed with the stock price list">
            <a:extLst>
              <a:ext uri="{FF2B5EF4-FFF2-40B4-BE49-F238E27FC236}">
                <a16:creationId xmlns:a16="http://schemas.microsoft.com/office/drawing/2014/main" id="{CBBF69C9-48BD-CAE4-94DC-B1AB89DEB47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8278" r="-1" b="16703"/>
          <a:stretch>
            <a:fillRect/>
          </a:stretch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5A5A4-44CC-3839-F66A-0EAB4E423E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63240"/>
          </a:xfrm>
        </p:spPr>
        <p:txBody>
          <a:bodyPr>
            <a:normAutofit/>
          </a:bodyPr>
          <a:lstStyle/>
          <a:p>
            <a:r>
              <a:rPr lang="en-IN" sz="6600" b="1">
                <a:solidFill>
                  <a:schemeClr val="bg1"/>
                </a:solidFill>
              </a:rPr>
              <a:t>Finance Intelligence Pipeline</a:t>
            </a:r>
            <a:br>
              <a:rPr lang="en-IN" sz="6600" b="1">
                <a:solidFill>
                  <a:schemeClr val="bg1"/>
                </a:solidFill>
              </a:rPr>
            </a:br>
            <a:endParaRPr lang="en-IN" sz="660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7BEEF5-0CD2-8F34-2C70-6EB02E7B31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599432"/>
            <a:ext cx="9144000" cy="1536192"/>
          </a:xfrm>
        </p:spPr>
        <p:txBody>
          <a:bodyPr>
            <a:normAutofit/>
          </a:bodyPr>
          <a:lstStyle/>
          <a:p>
            <a:r>
              <a:rPr lang="en-IN">
                <a:solidFill>
                  <a:schemeClr val="bg1"/>
                </a:solidFill>
              </a:rPr>
              <a:t>Developer: Sadiya Shaikh (2210474)</a:t>
            </a:r>
          </a:p>
        </p:txBody>
      </p:sp>
      <p:sp>
        <p:nvSpPr>
          <p:cNvPr id="16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6457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15A163-7C6A-4098-D2F5-766D60E22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IN" sz="4000">
                <a:solidFill>
                  <a:srgbClr val="FFFFFF"/>
                </a:solidFill>
              </a:rPr>
              <a:t>🎯 Core Purpose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AF720F29-1D94-27D9-402B-BE0E65888F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154608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25247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32733-55E0-6CE5-2C4A-63B5F5FBB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🔄 How It Works</a:t>
            </a:r>
            <a:endParaRPr lang="en-IN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70DBB68-75BC-3B72-3FAA-1608A07D05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543440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53000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5DA0-F859-B035-15EE-4699E7D4B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</p:spPr>
        <p:txBody>
          <a:bodyPr>
            <a:normAutofit/>
          </a:bodyPr>
          <a:lstStyle/>
          <a:p>
            <a:r>
              <a:rPr lang="en-IN" sz="3600" b="1">
                <a:solidFill>
                  <a:schemeClr val="tx2"/>
                </a:solidFill>
              </a:rPr>
              <a:t>📊 Data Model</a:t>
            </a:r>
            <a:endParaRPr lang="en-IN" sz="3600">
              <a:solidFill>
                <a:schemeClr val="tx2"/>
              </a:solidFill>
            </a:endParaRP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4CD98568-222F-3094-5A78-6E5BE2C4A1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2"/>
            <a:ext cx="4977578" cy="363928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1500" dirty="0">
                <a:solidFill>
                  <a:schemeClr val="tx2"/>
                </a:solidFill>
              </a:rPr>
              <a:t>The database includes two main entity groups:</a:t>
            </a:r>
          </a:p>
          <a:p>
            <a:pPr marL="0" indent="0">
              <a:buNone/>
            </a:pPr>
            <a:endParaRPr lang="en-IN" sz="15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IN" sz="1500" b="1" dirty="0">
                <a:solidFill>
                  <a:schemeClr val="tx2"/>
                </a:solidFill>
              </a:rPr>
              <a:t>News Intelligence:</a:t>
            </a:r>
            <a:endParaRPr lang="en-IN" sz="1500" dirty="0">
              <a:solidFill>
                <a:schemeClr val="tx2"/>
              </a:solidFill>
            </a:endParaRPr>
          </a:p>
          <a:p>
            <a:r>
              <a:rPr lang="en-IN" sz="1500" dirty="0" err="1">
                <a:solidFill>
                  <a:schemeClr val="tx2"/>
                </a:solidFill>
              </a:rPr>
              <a:t>NewsArticles</a:t>
            </a:r>
            <a:r>
              <a:rPr lang="en-IN" sz="1500" dirty="0">
                <a:solidFill>
                  <a:schemeClr val="tx2"/>
                </a:solidFill>
              </a:rPr>
              <a:t> → </a:t>
            </a:r>
            <a:r>
              <a:rPr lang="en-IN" sz="1500" dirty="0" err="1">
                <a:solidFill>
                  <a:schemeClr val="tx2"/>
                </a:solidFill>
              </a:rPr>
              <a:t>MarketEvents</a:t>
            </a:r>
            <a:r>
              <a:rPr lang="en-IN" sz="1500" dirty="0">
                <a:solidFill>
                  <a:schemeClr val="tx2"/>
                </a:solidFill>
              </a:rPr>
              <a:t> → Trends → Themes → </a:t>
            </a:r>
            <a:r>
              <a:rPr lang="en-IN" sz="1500" dirty="0" err="1">
                <a:solidFill>
                  <a:schemeClr val="tx2"/>
                </a:solidFill>
              </a:rPr>
              <a:t>SectorTags</a:t>
            </a:r>
            <a:r>
              <a:rPr lang="en-IN" sz="1500" dirty="0">
                <a:solidFill>
                  <a:schemeClr val="tx2"/>
                </a:solidFill>
              </a:rPr>
              <a:t> (hierarchical enrichment)</a:t>
            </a:r>
          </a:p>
          <a:p>
            <a:r>
              <a:rPr lang="en-IN" sz="1500" dirty="0">
                <a:solidFill>
                  <a:schemeClr val="tx2"/>
                </a:solidFill>
              </a:rPr>
              <a:t>Tracks relevance scores and weights at each level</a:t>
            </a:r>
          </a:p>
          <a:p>
            <a:endParaRPr lang="en-IN" sz="15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IN" sz="1500" b="1" dirty="0">
                <a:solidFill>
                  <a:schemeClr val="tx2"/>
                </a:solidFill>
              </a:rPr>
              <a:t>Client Portfolio:</a:t>
            </a:r>
            <a:endParaRPr lang="en-IN" sz="1500" dirty="0">
              <a:solidFill>
                <a:schemeClr val="tx2"/>
              </a:solidFill>
            </a:endParaRPr>
          </a:p>
          <a:p>
            <a:r>
              <a:rPr lang="en-IN" sz="1500" dirty="0">
                <a:solidFill>
                  <a:schemeClr val="tx2"/>
                </a:solidFill>
              </a:rPr>
              <a:t>Clients → Accounts → Portfolios → Holdings → Securities → Sectors</a:t>
            </a:r>
          </a:p>
          <a:p>
            <a:r>
              <a:rPr lang="en-IN" sz="1500" dirty="0">
                <a:solidFill>
                  <a:schemeClr val="tx2"/>
                </a:solidFill>
              </a:rPr>
              <a:t>Enables matching market themes against client portfolios</a:t>
            </a:r>
          </a:p>
          <a:p>
            <a:pPr marL="0" indent="0">
              <a:buNone/>
            </a:pPr>
            <a:endParaRPr lang="en-IN" sz="1500" dirty="0">
              <a:solidFill>
                <a:schemeClr val="tx2"/>
              </a:solidFill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6" name="Graphic 25" descr="Newspaper">
            <a:extLst>
              <a:ext uri="{FF2B5EF4-FFF2-40B4-BE49-F238E27FC236}">
                <a16:creationId xmlns:a16="http://schemas.microsoft.com/office/drawing/2014/main" id="{40BABFCC-4435-0DF7-DD4D-7186AB0B76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60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19728D-C817-9249-C9D1-084C5EADF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en-IN" sz="3600" b="1">
                <a:solidFill>
                  <a:schemeClr val="tx2"/>
                </a:solidFill>
              </a:rPr>
              <a:t>🚀 Key Features</a:t>
            </a:r>
            <a:endParaRPr lang="en-IN" sz="3600">
              <a:solidFill>
                <a:schemeClr val="tx2"/>
              </a:solidFill>
            </a:endParaRPr>
          </a:p>
        </p:txBody>
      </p:sp>
      <p:pic>
        <p:nvPicPr>
          <p:cNvPr id="7" name="Graphic 6" descr="Workflow">
            <a:extLst>
              <a:ext uri="{FF2B5EF4-FFF2-40B4-BE49-F238E27FC236}">
                <a16:creationId xmlns:a16="http://schemas.microsoft.com/office/drawing/2014/main" id="{5E0F4962-BFEF-1AED-878D-5216F2481A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26C53-AFC6-5172-002E-0BF81BEF60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anchor="ctr">
            <a:normAutofit/>
          </a:bodyPr>
          <a:lstStyle/>
          <a:p>
            <a:r>
              <a:rPr lang="en-IN" sz="1800" b="1" dirty="0">
                <a:solidFill>
                  <a:schemeClr val="tx2"/>
                </a:solidFill>
              </a:rPr>
              <a:t>Automated Scheduling</a:t>
            </a:r>
            <a:r>
              <a:rPr lang="en-IN" sz="1800" dirty="0">
                <a:solidFill>
                  <a:schemeClr val="tx2"/>
                </a:solidFill>
              </a:rPr>
              <a:t>: Runs every day by default to stay current</a:t>
            </a:r>
          </a:p>
          <a:p>
            <a:r>
              <a:rPr lang="en-IN" sz="1800" b="1" dirty="0">
                <a:solidFill>
                  <a:schemeClr val="tx2"/>
                </a:solidFill>
              </a:rPr>
              <a:t>AI-Powered Analysis</a:t>
            </a:r>
            <a:r>
              <a:rPr lang="en-IN" sz="1800" dirty="0">
                <a:solidFill>
                  <a:schemeClr val="tx2"/>
                </a:solidFill>
              </a:rPr>
              <a:t>: Uses </a:t>
            </a:r>
            <a:r>
              <a:rPr lang="en-IN" sz="1800" dirty="0" err="1">
                <a:solidFill>
                  <a:schemeClr val="tx2"/>
                </a:solidFill>
              </a:rPr>
              <a:t>openAI</a:t>
            </a:r>
            <a:r>
              <a:rPr lang="en-IN" sz="1800" dirty="0">
                <a:solidFill>
                  <a:schemeClr val="tx2"/>
                </a:solidFill>
              </a:rPr>
              <a:t> GPT-4o for event/trend/theme extraction</a:t>
            </a:r>
          </a:p>
          <a:p>
            <a:r>
              <a:rPr lang="en-IN" sz="1800" b="1" dirty="0">
                <a:solidFill>
                  <a:schemeClr val="tx2"/>
                </a:solidFill>
              </a:rPr>
              <a:t>Flexible Storage</a:t>
            </a:r>
            <a:r>
              <a:rPr lang="en-IN" sz="1800" dirty="0">
                <a:solidFill>
                  <a:schemeClr val="tx2"/>
                </a:solidFill>
              </a:rPr>
              <a:t>: SQLite for dev, PostgreSQL for production</a:t>
            </a:r>
          </a:p>
          <a:p>
            <a:r>
              <a:rPr lang="en-IN" sz="1800" b="1" dirty="0">
                <a:solidFill>
                  <a:schemeClr val="tx2"/>
                </a:solidFill>
              </a:rPr>
              <a:t>Demo Data</a:t>
            </a:r>
            <a:r>
              <a:rPr lang="en-IN" sz="1800" dirty="0">
                <a:solidFill>
                  <a:schemeClr val="tx2"/>
                </a:solidFill>
              </a:rPr>
              <a:t>: Includes seed scripts for testing</a:t>
            </a:r>
          </a:p>
          <a:p>
            <a:r>
              <a:rPr lang="en-IN" sz="1800" b="1" dirty="0">
                <a:solidFill>
                  <a:schemeClr val="tx2"/>
                </a:solidFill>
              </a:rPr>
              <a:t>Report Generation</a:t>
            </a:r>
            <a:r>
              <a:rPr lang="en-IN" sz="1800" dirty="0">
                <a:solidFill>
                  <a:schemeClr val="tx2"/>
                </a:solidFill>
              </a:rPr>
              <a:t>: Outputs investment themes with visual sentiment indicators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246048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602A4-BCB1-44AA-0F9A-14DBD3B97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02EE1-A49F-30CB-7C82-EE0641FCDE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00800" cy="4351338"/>
          </a:xfrm>
        </p:spPr>
        <p:txBody>
          <a:bodyPr>
            <a:normAutofit fontScale="55000" lnSpcReduction="20000"/>
          </a:bodyPr>
          <a:lstStyle/>
          <a:p>
            <a:pPr marL="514350" indent="-514350">
              <a:buAutoNum type="arabicPeriod"/>
            </a:pPr>
            <a:r>
              <a:rPr lang="en-IN" b="1" dirty="0" err="1"/>
              <a:t>NewsArticle</a:t>
            </a:r>
            <a:r>
              <a:rPr lang="en-IN" dirty="0"/>
              <a:t>: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/>
              <a:t>  id: 42</a:t>
            </a:r>
          </a:p>
          <a:p>
            <a:pPr marL="0" indent="0">
              <a:buNone/>
            </a:pPr>
            <a:r>
              <a:rPr lang="en-US" dirty="0"/>
              <a:t>  title: "NVIDIA Beats Q4 Earnings, Fed Signals Rate Cut"</a:t>
            </a:r>
          </a:p>
          <a:p>
            <a:pPr marL="0" indent="0">
              <a:buNone/>
            </a:pPr>
            <a:r>
              <a:rPr lang="en-US" dirty="0"/>
              <a:t>  summary: "Strong GPU sales..."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is_processed</a:t>
            </a:r>
            <a:r>
              <a:rPr lang="en-US" dirty="0"/>
              <a:t>: False → True (after we process it)</a:t>
            </a:r>
          </a:p>
          <a:p>
            <a:pPr marL="0" indent="0">
              <a:buNone/>
            </a:pPr>
            <a:r>
              <a:rPr lang="en-US" b="1" dirty="0"/>
              <a:t>2. </a:t>
            </a:r>
            <a:r>
              <a:rPr lang="en-US" b="1" dirty="0" err="1"/>
              <a:t>MarketEvent</a:t>
            </a:r>
            <a:r>
              <a:rPr lang="en-US" b="1" dirty="0"/>
              <a:t> (Output of Stage A): </a:t>
            </a:r>
          </a:p>
          <a:p>
            <a:pPr marL="0" indent="0">
              <a:buNone/>
            </a:pPr>
            <a:r>
              <a:rPr lang="en-US" dirty="0"/>
              <a:t>create discrete events from article.</a:t>
            </a:r>
          </a:p>
          <a:p>
            <a:pPr marL="0" indent="0">
              <a:buNone/>
            </a:pPr>
            <a:r>
              <a:rPr lang="en-US" dirty="0"/>
              <a:t>Example from that article:</a:t>
            </a:r>
          </a:p>
          <a:p>
            <a:pPr marL="0" indent="0">
              <a:buNone/>
            </a:pPr>
            <a:r>
              <a:rPr lang="en-US" dirty="0"/>
              <a:t>  Event 1: id=100, </a:t>
            </a:r>
            <a:r>
              <a:rPr lang="en-US" dirty="0" err="1"/>
              <a:t>article_id</a:t>
            </a:r>
            <a:r>
              <a:rPr lang="en-US" dirty="0"/>
              <a:t>=42, </a:t>
            </a:r>
            <a:r>
              <a:rPr lang="en-US" dirty="0" err="1"/>
              <a:t>event_text</a:t>
            </a:r>
            <a:r>
              <a:rPr lang="en-US" dirty="0"/>
              <a:t>="NVIDIA beats earnings", </a:t>
            </a:r>
          </a:p>
          <a:p>
            <a:pPr marL="0" indent="0">
              <a:buNone/>
            </a:pPr>
            <a:r>
              <a:rPr lang="en-US" dirty="0"/>
              <a:t>           </a:t>
            </a:r>
            <a:r>
              <a:rPr lang="en-US" dirty="0" err="1"/>
              <a:t>event_type</a:t>
            </a:r>
            <a:r>
              <a:rPr lang="en-US" dirty="0"/>
              <a:t>="EARNINGS", entities=["NVDA"]</a:t>
            </a:r>
          </a:p>
          <a:p>
            <a:pPr marL="0" indent="0">
              <a:buNone/>
            </a:pPr>
            <a:r>
              <a:rPr lang="en-US" dirty="0"/>
              <a:t>           </a:t>
            </a:r>
          </a:p>
          <a:p>
            <a:pPr marL="0" indent="0">
              <a:buNone/>
            </a:pPr>
            <a:r>
              <a:rPr lang="en-US" dirty="0"/>
              <a:t>  Event 2: id=101, </a:t>
            </a:r>
            <a:r>
              <a:rPr lang="en-US" dirty="0" err="1"/>
              <a:t>article_id</a:t>
            </a:r>
            <a:r>
              <a:rPr lang="en-US" dirty="0"/>
              <a:t>=42, </a:t>
            </a:r>
            <a:r>
              <a:rPr lang="en-US" dirty="0" err="1"/>
              <a:t>event_text</a:t>
            </a:r>
            <a:r>
              <a:rPr lang="en-US" dirty="0"/>
              <a:t>="Fed signals rate cut",</a:t>
            </a:r>
          </a:p>
          <a:p>
            <a:pPr marL="0" indent="0">
              <a:buNone/>
            </a:pPr>
            <a:r>
              <a:rPr lang="en-US" dirty="0"/>
              <a:t>           </a:t>
            </a:r>
            <a:r>
              <a:rPr lang="en-US" dirty="0" err="1"/>
              <a:t>event_type</a:t>
            </a:r>
            <a:r>
              <a:rPr lang="en-US" dirty="0"/>
              <a:t>="MACRO", entities=["FED"]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BC887D-E4DB-1DB0-15EC-DA40E198A752}"/>
              </a:ext>
            </a:extLst>
          </p:cNvPr>
          <p:cNvSpPr txBox="1"/>
          <p:nvPr/>
        </p:nvSpPr>
        <p:spPr>
          <a:xfrm>
            <a:off x="6945086" y="1814739"/>
            <a:ext cx="507274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3. </a:t>
            </a:r>
            <a:r>
              <a:rPr lang="en-US" b="1" dirty="0" err="1"/>
              <a:t>MarketEventTrend</a:t>
            </a:r>
            <a:r>
              <a:rPr lang="en-US" b="1" dirty="0"/>
              <a:t> (Many-to-Many Bridge):</a:t>
            </a:r>
          </a:p>
          <a:p>
            <a:r>
              <a:rPr lang="en-US" dirty="0"/>
              <a:t>Links events to trends with a relevance score.</a:t>
            </a:r>
          </a:p>
          <a:p>
            <a:r>
              <a:rPr lang="en-IN" dirty="0"/>
              <a:t>After Stage B (clustering), you get:</a:t>
            </a:r>
          </a:p>
          <a:p>
            <a:endParaRPr lang="en-IN" dirty="0"/>
          </a:p>
          <a:p>
            <a:r>
              <a:rPr lang="en-IN" dirty="0"/>
              <a:t>Trend 1: id=1000, name="AI Infrastructure Build-Out"</a:t>
            </a:r>
          </a:p>
          <a:p>
            <a:r>
              <a:rPr lang="en-IN" dirty="0"/>
              <a:t>Trend 2: id=1001, name="Rising Rate Environment"</a:t>
            </a:r>
          </a:p>
          <a:p>
            <a:endParaRPr lang="en-IN" dirty="0"/>
          </a:p>
          <a:p>
            <a:r>
              <a:rPr lang="en-IN" dirty="0"/>
              <a:t>Then the links created:</a:t>
            </a:r>
          </a:p>
          <a:p>
            <a:r>
              <a:rPr lang="en-IN" dirty="0"/>
              <a:t>  </a:t>
            </a:r>
            <a:r>
              <a:rPr lang="en-IN" dirty="0" err="1"/>
              <a:t>MarketEventTrend</a:t>
            </a:r>
            <a:r>
              <a:rPr lang="en-IN" dirty="0"/>
              <a:t>: </a:t>
            </a:r>
            <a:r>
              <a:rPr lang="en-IN" dirty="0" err="1"/>
              <a:t>event_id</a:t>
            </a:r>
            <a:r>
              <a:rPr lang="en-IN" dirty="0"/>
              <a:t>=100 → </a:t>
            </a:r>
            <a:r>
              <a:rPr lang="en-IN" dirty="0" err="1"/>
              <a:t>trend_id</a:t>
            </a:r>
            <a:r>
              <a:rPr lang="en-IN" dirty="0"/>
              <a:t>=1000, </a:t>
            </a:r>
            <a:r>
              <a:rPr lang="en-IN" dirty="0" err="1"/>
              <a:t>relevance_score</a:t>
            </a:r>
            <a:r>
              <a:rPr lang="en-IN" dirty="0"/>
              <a:t>=0.95</a:t>
            </a:r>
          </a:p>
          <a:p>
            <a:r>
              <a:rPr lang="en-IN" dirty="0"/>
              <a:t>  </a:t>
            </a:r>
            <a:r>
              <a:rPr lang="en-IN" dirty="0" err="1"/>
              <a:t>MarketEventTrend</a:t>
            </a:r>
            <a:r>
              <a:rPr lang="en-IN" dirty="0"/>
              <a:t>: </a:t>
            </a:r>
            <a:r>
              <a:rPr lang="en-IN" dirty="0" err="1"/>
              <a:t>event_id</a:t>
            </a:r>
            <a:r>
              <a:rPr lang="en-IN" dirty="0"/>
              <a:t>=100 → </a:t>
            </a:r>
            <a:r>
              <a:rPr lang="en-IN" dirty="0" err="1"/>
              <a:t>trend_id</a:t>
            </a:r>
            <a:r>
              <a:rPr lang="en-IN" dirty="0"/>
              <a:t>=1001, </a:t>
            </a:r>
            <a:r>
              <a:rPr lang="en-IN" dirty="0" err="1"/>
              <a:t>relevance_score</a:t>
            </a:r>
            <a:r>
              <a:rPr lang="en-IN" dirty="0"/>
              <a:t>=0.3</a:t>
            </a:r>
          </a:p>
          <a:p>
            <a:r>
              <a:rPr lang="en-IN" dirty="0"/>
              <a:t>  </a:t>
            </a:r>
            <a:r>
              <a:rPr lang="en-IN" dirty="0" err="1"/>
              <a:t>MarketEventTrend</a:t>
            </a:r>
            <a:r>
              <a:rPr lang="en-IN" dirty="0"/>
              <a:t>: </a:t>
            </a:r>
            <a:r>
              <a:rPr lang="en-IN" dirty="0" err="1"/>
              <a:t>event_id</a:t>
            </a:r>
            <a:r>
              <a:rPr lang="en-IN" dirty="0"/>
              <a:t>=101 → </a:t>
            </a:r>
            <a:r>
              <a:rPr lang="en-IN" dirty="0" err="1"/>
              <a:t>trend_id</a:t>
            </a:r>
            <a:r>
              <a:rPr lang="en-IN" dirty="0"/>
              <a:t>=1001, </a:t>
            </a:r>
            <a:r>
              <a:rPr lang="en-IN" dirty="0" err="1"/>
              <a:t>relevance_score</a:t>
            </a:r>
            <a:r>
              <a:rPr lang="en-IN" dirty="0"/>
              <a:t>=0.92</a:t>
            </a:r>
          </a:p>
        </p:txBody>
      </p:sp>
    </p:spTree>
    <p:extLst>
      <p:ext uri="{BB962C8B-B14F-4D97-AF65-F5344CB8AC3E}">
        <p14:creationId xmlns:p14="http://schemas.microsoft.com/office/powerpoint/2010/main" val="2189089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AB8D0-CD4C-D72F-AB43-BC456B446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93914"/>
            <a:ext cx="10765971" cy="6389915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4. </a:t>
            </a:r>
            <a:r>
              <a:rPr lang="en-US" b="1" dirty="0" err="1"/>
              <a:t>TrendTheme</a:t>
            </a:r>
            <a:r>
              <a:rPr lang="en-US" b="1" dirty="0"/>
              <a:t> (Many-to-Many Bridge)</a:t>
            </a:r>
          </a:p>
          <a:p>
            <a:r>
              <a:rPr lang="en-US" dirty="0"/>
              <a:t>Links trends to high-level themes.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After Stage C (distillation), you get:</a:t>
            </a:r>
          </a:p>
          <a:p>
            <a:pPr marL="0" indent="0">
              <a:buNone/>
            </a:pPr>
            <a:r>
              <a:rPr lang="en-US" dirty="0"/>
              <a:t>Theme 1: id=500, name="AI Revolution"</a:t>
            </a:r>
          </a:p>
          <a:p>
            <a:pPr marL="0" indent="0">
              <a:buNone/>
            </a:pPr>
            <a:r>
              <a:rPr lang="en-US" dirty="0"/>
              <a:t>Theme 2: id=501, name="Monetary Tightening"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Then the links: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TrendTheme</a:t>
            </a:r>
            <a:r>
              <a:rPr lang="en-US" dirty="0"/>
              <a:t>: </a:t>
            </a:r>
            <a:r>
              <a:rPr lang="en-US" dirty="0" err="1"/>
              <a:t>trend_id</a:t>
            </a:r>
            <a:r>
              <a:rPr lang="en-US" dirty="0"/>
              <a:t>=1000 → </a:t>
            </a:r>
            <a:r>
              <a:rPr lang="en-US" dirty="0" err="1"/>
              <a:t>theme_id</a:t>
            </a:r>
            <a:r>
              <a:rPr lang="en-US" dirty="0"/>
              <a:t>=500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TrendTheme</a:t>
            </a:r>
            <a:r>
              <a:rPr lang="en-US" dirty="0"/>
              <a:t>: </a:t>
            </a:r>
            <a:r>
              <a:rPr lang="en-US" dirty="0" err="1"/>
              <a:t>trend_id</a:t>
            </a:r>
            <a:r>
              <a:rPr lang="en-US" dirty="0"/>
              <a:t>=1001 → </a:t>
            </a:r>
            <a:r>
              <a:rPr lang="en-US" dirty="0" err="1"/>
              <a:t>theme_id</a:t>
            </a:r>
            <a:r>
              <a:rPr lang="en-US" dirty="0"/>
              <a:t>=501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5. </a:t>
            </a:r>
            <a:r>
              <a:rPr lang="en-US" b="1" dirty="0" err="1"/>
              <a:t>SectorTag</a:t>
            </a:r>
            <a:r>
              <a:rPr lang="en-US" b="1" dirty="0"/>
              <a:t> (One-to-Many: Theme → Sectors)</a:t>
            </a:r>
          </a:p>
          <a:p>
            <a:r>
              <a:rPr lang="en-US" dirty="0"/>
              <a:t>Each theme gets tagged with affected sectors + sentiment.</a:t>
            </a:r>
          </a:p>
          <a:p>
            <a:pPr marL="0" indent="0">
              <a:buNone/>
            </a:pPr>
            <a:r>
              <a:rPr lang="en-IN" dirty="0"/>
              <a:t>For Theme 1 ("AI Revolution"):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SectorTag</a:t>
            </a:r>
            <a:r>
              <a:rPr lang="en-IN" dirty="0"/>
              <a:t>: </a:t>
            </a:r>
            <a:r>
              <a:rPr lang="en-IN" dirty="0" err="1"/>
              <a:t>theme_id</a:t>
            </a:r>
            <a:r>
              <a:rPr lang="en-IN" dirty="0"/>
              <a:t>=500, </a:t>
            </a:r>
            <a:r>
              <a:rPr lang="en-IN" dirty="0" err="1"/>
              <a:t>sector_name</a:t>
            </a:r>
            <a:r>
              <a:rPr lang="en-IN" dirty="0"/>
              <a:t>="Semiconductors", </a:t>
            </a:r>
          </a:p>
          <a:p>
            <a:pPr marL="0" indent="0">
              <a:buNone/>
            </a:pPr>
            <a:r>
              <a:rPr lang="en-IN" dirty="0"/>
              <a:t>             sentiment="Positive", confidence=0.95,</a:t>
            </a:r>
          </a:p>
          <a:p>
            <a:pPr marL="0" indent="0">
              <a:buNone/>
            </a:pPr>
            <a:r>
              <a:rPr lang="en-IN" dirty="0"/>
              <a:t>             rationale="GPU demand surging"</a:t>
            </a:r>
          </a:p>
          <a:p>
            <a:pPr marL="0" indent="0">
              <a:buNone/>
            </a:pPr>
            <a:r>
              <a:rPr lang="en-IN" dirty="0"/>
              <a:t>             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SectorTag</a:t>
            </a:r>
            <a:r>
              <a:rPr lang="en-IN" dirty="0"/>
              <a:t>: </a:t>
            </a:r>
            <a:r>
              <a:rPr lang="en-IN" dirty="0" err="1"/>
              <a:t>theme_id</a:t>
            </a:r>
            <a:r>
              <a:rPr lang="en-IN" dirty="0"/>
              <a:t>=500, </a:t>
            </a:r>
            <a:r>
              <a:rPr lang="en-IN" dirty="0" err="1"/>
              <a:t>sector_name</a:t>
            </a:r>
            <a:r>
              <a:rPr lang="en-IN" dirty="0"/>
              <a:t>="Energy",</a:t>
            </a:r>
          </a:p>
          <a:p>
            <a:pPr marL="0" indent="0">
              <a:buNone/>
            </a:pPr>
            <a:r>
              <a:rPr lang="en-IN" dirty="0"/>
              <a:t>             sentiment="Negative", confidence=0.70,</a:t>
            </a:r>
          </a:p>
          <a:p>
            <a:pPr marL="0" indent="0">
              <a:buNone/>
            </a:pPr>
            <a:r>
              <a:rPr lang="en-IN" dirty="0"/>
              <a:t>             rationale="Data </a:t>
            </a:r>
            <a:r>
              <a:rPr lang="en-IN" dirty="0" err="1"/>
              <a:t>center</a:t>
            </a:r>
            <a:r>
              <a:rPr lang="en-IN" dirty="0"/>
              <a:t> power costs rising"</a:t>
            </a:r>
          </a:p>
        </p:txBody>
      </p:sp>
    </p:spTree>
    <p:extLst>
      <p:ext uri="{BB962C8B-B14F-4D97-AF65-F5344CB8AC3E}">
        <p14:creationId xmlns:p14="http://schemas.microsoft.com/office/powerpoint/2010/main" val="2863026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8D418-181A-E65B-5927-7E7D01C4F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Visual of storing actual data: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D0DED-15C1-372B-90DA-92CDE2AA78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ARTICLE 42: "NVIDIA Beats Q4 Earnings, Fed Signals Rate Cut"</a:t>
            </a:r>
          </a:p>
          <a:p>
            <a:pPr marL="0" indent="0">
              <a:buNone/>
            </a:pPr>
            <a:r>
              <a:rPr lang="en-IN" dirty="0"/>
              <a:t>│</a:t>
            </a:r>
          </a:p>
          <a:p>
            <a:pPr marL="0" indent="0">
              <a:buNone/>
            </a:pPr>
            <a:r>
              <a:rPr lang="en-IN" dirty="0"/>
              <a:t>├─ EVENT 100: "NVIDIA beats earnings" (EARNINGS)</a:t>
            </a:r>
          </a:p>
          <a:p>
            <a:pPr marL="0" indent="0">
              <a:buNone/>
            </a:pPr>
            <a:r>
              <a:rPr lang="en-IN" dirty="0"/>
              <a:t>│  ├─ links to TREND 1000 (score: 0.95) → THEME 500: "AI Revolution"</a:t>
            </a:r>
          </a:p>
          <a:p>
            <a:pPr marL="0" indent="0">
              <a:buNone/>
            </a:pPr>
            <a:r>
              <a:rPr lang="en-IN" dirty="0"/>
              <a:t>│  │                                        ├─ Semiconductors (+Positive, 0.95)</a:t>
            </a:r>
          </a:p>
          <a:p>
            <a:pPr marL="0" indent="0">
              <a:buNone/>
            </a:pPr>
            <a:r>
              <a:rPr lang="en-IN" dirty="0"/>
              <a:t>│  │                                        └─ Energy (-Negative, 0.70)</a:t>
            </a:r>
          </a:p>
          <a:p>
            <a:pPr marL="0" indent="0">
              <a:buNone/>
            </a:pPr>
            <a:r>
              <a:rPr lang="en-IN" dirty="0"/>
              <a:t>│  │</a:t>
            </a:r>
          </a:p>
          <a:p>
            <a:pPr marL="0" indent="0">
              <a:buNone/>
            </a:pPr>
            <a:r>
              <a:rPr lang="en-IN" dirty="0"/>
              <a:t>│  └─ links to TREND 1001 (score: 0.3) → THEME 501: "Monetary Tightening"</a:t>
            </a:r>
          </a:p>
          <a:p>
            <a:pPr marL="0" indent="0">
              <a:buNone/>
            </a:pPr>
            <a:r>
              <a:rPr lang="en-IN" dirty="0"/>
              <a:t>│</a:t>
            </a:r>
          </a:p>
          <a:p>
            <a:pPr marL="0" indent="0">
              <a:buNone/>
            </a:pPr>
            <a:r>
              <a:rPr lang="en-IN" dirty="0"/>
              <a:t>└─ EVENT 101: "Fed signals rate cut" (MACRO)</a:t>
            </a:r>
          </a:p>
          <a:p>
            <a:pPr marL="0" indent="0">
              <a:buNone/>
            </a:pPr>
            <a:r>
              <a:rPr lang="en-IN" dirty="0"/>
              <a:t>   └─ links to TREND 1001 (score: 0.92) → THEME 501: "Monetary Tightening"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9472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7DA1F35B-C8F7-4A5A-9339-7DA4D785B3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B2D4AD41-40DA-4A81-92F5-B6E3BA1ED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746107">
            <a:off x="8175088" y="457951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53024E-85F3-F22F-F31B-5159251B7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b="1"/>
              <a:t>Summary Table: How Data Flows</a:t>
            </a:r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D4A882D-5C2A-C457-CEE6-5874ED28AF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8211367"/>
              </p:ext>
            </p:extLst>
          </p:nvPr>
        </p:nvGraphicFramePr>
        <p:xfrm>
          <a:off x="838199" y="1878051"/>
          <a:ext cx="10646212" cy="43921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596378">
                  <a:extLst>
                    <a:ext uri="{9D8B030D-6E8A-4147-A177-3AD203B41FA5}">
                      <a16:colId xmlns:a16="http://schemas.microsoft.com/office/drawing/2014/main" val="3433519237"/>
                    </a:ext>
                  </a:extLst>
                </a:gridCol>
                <a:gridCol w="2676750">
                  <a:extLst>
                    <a:ext uri="{9D8B030D-6E8A-4147-A177-3AD203B41FA5}">
                      <a16:colId xmlns:a16="http://schemas.microsoft.com/office/drawing/2014/main" val="1806381551"/>
                    </a:ext>
                  </a:extLst>
                </a:gridCol>
                <a:gridCol w="2699733">
                  <a:extLst>
                    <a:ext uri="{9D8B030D-6E8A-4147-A177-3AD203B41FA5}">
                      <a16:colId xmlns:a16="http://schemas.microsoft.com/office/drawing/2014/main" val="1881514301"/>
                    </a:ext>
                  </a:extLst>
                </a:gridCol>
                <a:gridCol w="2673351">
                  <a:extLst>
                    <a:ext uri="{9D8B030D-6E8A-4147-A177-3AD203B41FA5}">
                      <a16:colId xmlns:a16="http://schemas.microsoft.com/office/drawing/2014/main" val="2635192729"/>
                    </a:ext>
                  </a:extLst>
                </a:gridCol>
              </a:tblGrid>
              <a:tr h="3635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Layer</a:t>
                      </a:r>
                    </a:p>
                  </a:txBody>
                  <a:tcPr marL="143462" marR="50795" marT="71731" marB="7173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Table</a:t>
                      </a:r>
                    </a:p>
                  </a:txBody>
                  <a:tcPr marL="143462" marR="50795" marT="71731" marB="7173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Purpose</a:t>
                      </a:r>
                    </a:p>
                  </a:txBody>
                  <a:tcPr marL="143462" marR="50795" marT="71731" marB="7173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Real Example</a:t>
                      </a:r>
                    </a:p>
                  </a:txBody>
                  <a:tcPr marL="143462" marR="50795" marT="71731" marB="7173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8562412"/>
                  </a:ext>
                </a:extLst>
              </a:tr>
              <a:tr h="5490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Input</a:t>
                      </a:r>
                      <a:endParaRPr lang="en-IN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143462" marR="50795" marT="71731" marB="7173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onaspace Neon"/>
                        </a:rPr>
                        <a:t>news_articles</a:t>
                      </a:r>
                      <a:endParaRPr lang="en-IN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143462" marR="50795" marT="71731" marB="7173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Raw ingested articles</a:t>
                      </a:r>
                    </a:p>
                  </a:txBody>
                  <a:tcPr marL="143462" marR="50795" marT="71731" marB="7173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Nvidia article ingested from Yahoo Finance</a:t>
                      </a:r>
                    </a:p>
                  </a:txBody>
                  <a:tcPr marL="143462" marR="50795" marT="71731" marB="7173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5537640"/>
                  </a:ext>
                </a:extLst>
              </a:tr>
              <a:tr h="734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AI Extract</a:t>
                      </a:r>
                      <a:endParaRPr lang="en-IN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143462" marR="50795" marT="71731" marB="7173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onaspace Neon"/>
                        </a:rPr>
                        <a:t>market_events</a:t>
                      </a:r>
                      <a:endParaRPr lang="en-IN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143462" marR="50795" marT="71731" marB="7173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Discrete market events</a:t>
                      </a:r>
                    </a:p>
                  </a:txBody>
                  <a:tcPr marL="143462" marR="50795" marT="71731" marB="7173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"Alphabet revenue grew 63%", "Stock pullback" (5 events from 1 article)</a:t>
                      </a:r>
                    </a:p>
                  </a:txBody>
                  <a:tcPr marL="143462" marR="50795" marT="71731" marB="7173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8484218"/>
                  </a:ext>
                </a:extLst>
              </a:tr>
              <a:tr h="5490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Pattern</a:t>
                      </a:r>
                      <a:endParaRPr lang="en-IN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143462" marR="50795" marT="71731" marB="7173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onaspace Neon"/>
                        </a:rPr>
                        <a:t>trends</a:t>
                      </a:r>
                      <a:endParaRPr lang="en-IN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143462" marR="50795" marT="71731" marB="7173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Cross-article patterns</a:t>
                      </a:r>
                    </a:p>
                  </a:txBody>
                  <a:tcPr marL="143462" marR="50795" marT="71731" marB="7173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"Alphabet Growth Trend" groups all related events</a:t>
                      </a:r>
                    </a:p>
                  </a:txBody>
                  <a:tcPr marL="143462" marR="50795" marT="71731" marB="7173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0017941"/>
                  </a:ext>
                </a:extLst>
              </a:tr>
              <a:tr h="5490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Narrative</a:t>
                      </a:r>
                      <a:endParaRPr lang="en-IN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143462" marR="50795" marT="71731" marB="7173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onaspace Neon"/>
                        </a:rPr>
                        <a:t>themes</a:t>
                      </a:r>
                      <a:endParaRPr lang="en-IN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143462" marR="50795" marT="71731" marB="7173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Investment narrative</a:t>
                      </a:r>
                    </a:p>
                  </a:txBody>
                  <a:tcPr marL="143462" marR="50795" marT="71731" marB="7173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"Tech Resurgence" groups multiple trends</a:t>
                      </a:r>
                    </a:p>
                  </a:txBody>
                  <a:tcPr marL="143462" marR="50795" marT="71731" marB="7173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7256820"/>
                  </a:ext>
                </a:extLst>
              </a:tr>
              <a:tr h="5490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Tagging</a:t>
                      </a:r>
                      <a:endParaRPr lang="en-IN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143462" marR="50795" marT="71731" marB="7173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onaspace Neon"/>
                        </a:rPr>
                        <a:t>sector_tags</a:t>
                      </a:r>
                      <a:endParaRPr lang="en-IN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143462" marR="50795" marT="71731" marB="7173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Sector + sentiment</a:t>
                      </a:r>
                    </a:p>
                  </a:txBody>
                  <a:tcPr marL="143462" marR="50795" marT="71731" marB="7173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Technology sector = POSITIVE (0.9 confidence)</a:t>
                      </a:r>
                    </a:p>
                  </a:txBody>
                  <a:tcPr marL="143462" marR="50795" marT="71731" marB="7173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5378658"/>
                  </a:ext>
                </a:extLst>
              </a:tr>
              <a:tr h="5490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Client Match</a:t>
                      </a:r>
                      <a:endParaRPr lang="en-IN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143462" marR="50795" marT="71731" marB="7173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onaspace Neon"/>
                        </a:rPr>
                        <a:t>client_theme_matches</a:t>
                      </a:r>
                      <a:endParaRPr lang="en-IN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143462" marR="50795" marT="71731" marB="7173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Portfolio exposure</a:t>
                      </a:r>
                    </a:p>
                  </a:txBody>
                  <a:tcPr marL="143462" marR="50795" marT="71731" marB="7173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Arjun's 62.52% tech exposure matches "Tech Resurgence"</a:t>
                      </a:r>
                    </a:p>
                  </a:txBody>
                  <a:tcPr marL="143462" marR="50795" marT="71731" marB="7173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3544930"/>
                  </a:ext>
                </a:extLst>
              </a:tr>
              <a:tr h="5490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Holdings</a:t>
                      </a:r>
                      <a:endParaRPr lang="en-IN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143462" marR="50795" marT="71731" marB="7173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onaspace Neon"/>
                        </a:rPr>
                        <a:t>holdings</a:t>
                      </a:r>
                      <a:endParaRPr lang="en-IN" sz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143462" marR="50795" marT="71731" marB="7173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Actual positions</a:t>
                      </a:r>
                    </a:p>
                  </a:txBody>
                  <a:tcPr marL="143462" marR="50795" marT="71731" marB="7173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Arjun owns 200 NVDA @ $900 = $180K</a:t>
                      </a:r>
                    </a:p>
                  </a:txBody>
                  <a:tcPr marL="143462" marR="50795" marT="71731" marB="71731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3541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1009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1468</TotalTime>
  <Words>918</Words>
  <Application>Microsoft Office PowerPoint</Application>
  <PresentationFormat>Widescreen</PresentationFormat>
  <Paragraphs>119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Monaspace Neon</vt:lpstr>
      <vt:lpstr>Office Theme</vt:lpstr>
      <vt:lpstr>Finance Intelligence Pipeline </vt:lpstr>
      <vt:lpstr>🎯 Core Purpose</vt:lpstr>
      <vt:lpstr>🔄 How It Works</vt:lpstr>
      <vt:lpstr>📊 Data Model</vt:lpstr>
      <vt:lpstr>🚀 Key Features</vt:lpstr>
      <vt:lpstr>Examples</vt:lpstr>
      <vt:lpstr>PowerPoint Presentation</vt:lpstr>
      <vt:lpstr>Visual of storing actual data:</vt:lpstr>
      <vt:lpstr>Summary Table: How Data Flows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Shaikh, Sadiya (Cognizant)</dc:creator>
  <cp:lastModifiedBy>Shaikh, Sadiya (Cognizant)</cp:lastModifiedBy>
  <cp:revision>1</cp:revision>
  <dcterms:created xsi:type="dcterms:W3CDTF">2026-06-04T08:20:32Z</dcterms:created>
  <dcterms:modified xsi:type="dcterms:W3CDTF">2026-06-15T08:51:48Z</dcterms:modified>
</cp:coreProperties>
</file>